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1" r:id="rId3"/>
    <p:sldId id="264" r:id="rId4"/>
    <p:sldId id="267" r:id="rId5"/>
    <p:sldId id="270" r:id="rId6"/>
    <p:sldId id="273" r:id="rId7"/>
    <p:sldId id="275" r:id="rId8"/>
    <p:sldId id="278" r:id="rId9"/>
    <p:sldId id="281" r:id="rId10"/>
    <p:sldId id="284" r:id="rId11"/>
    <p:sldId id="286" r:id="rId12"/>
    <p:sldId id="288" r:id="rId13"/>
    <p:sldId id="29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1B62E-89E2-4285-1528-80389F8ACE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6769B3-BCB1-A2AA-1D12-ABD48CA5D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20E21-4FEB-CC0B-069B-F2CD44F0F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346BB-77DA-4167-9967-7192FF5BF712}" type="datetimeFigureOut">
              <a:rPr lang="en-CA" smtClean="0"/>
              <a:t>2026-06-26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9C8E2-E668-3712-BB3B-D6EB3AE10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25722-0276-81AC-61EC-7984DE15A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44D4-77B7-42DF-9A14-57C007C8BA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6647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E0B38-2E47-B757-45B6-C010B0F25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AF670-24E6-89BF-9BCE-ED9C72DC2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4BEC5-32D5-57A7-9E92-31478A431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346BB-77DA-4167-9967-7192FF5BF712}" type="datetimeFigureOut">
              <a:rPr lang="en-CA" smtClean="0"/>
              <a:t>2026-06-26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BC4E9-B1A9-2FCE-1DA6-F70C3FF6C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C9C16-EBB3-FAC7-2AF6-1B142DEA2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44D4-77B7-42DF-9A14-57C007C8BA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6234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1CACF-1BE3-A1CB-855E-BD1270E48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43057-CAC8-E730-2BED-33BB9D7D6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DBDF7-BDE5-C29C-9D87-12C02F2D3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346BB-77DA-4167-9967-7192FF5BF712}" type="datetimeFigureOut">
              <a:rPr lang="en-CA" smtClean="0"/>
              <a:t>2026-06-26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60E8E-28D1-0516-56DF-F909062F6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BCF5E-843F-2037-FC25-839A76A29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44D4-77B7-42DF-9A14-57C007C8BA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03242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1D6CB-5DAD-6D4B-3C71-37AC471EC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46352-F66A-EBCE-E274-0C9FE64AC9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06AC15-B419-EBC5-C477-3E089E1DA8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EEEBF1-7DFE-E44A-2B95-154832566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346BB-77DA-4167-9967-7192FF5BF712}" type="datetimeFigureOut">
              <a:rPr lang="en-CA" smtClean="0"/>
              <a:t>2026-06-26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7FC965-0768-17B9-0F47-3BFD83F4A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DDB47F-1FE8-4CEB-8723-71176C4D6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44D4-77B7-42DF-9A14-57C007C8BA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92320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1199F-D13F-FD1E-FA67-F9AAEB863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AD0D8-7091-3914-1E4A-048E684CF0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5523DE-4C5D-5BD5-6BA4-A5565E8D39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AA1CE3-CEC6-4914-74A6-004C7F6962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EB896B-F1CC-6F60-3E81-E23D505545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FE771D-8DF2-097E-6FDB-C1DE5EAA7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346BB-77DA-4167-9967-7192FF5BF712}" type="datetimeFigureOut">
              <a:rPr lang="en-CA" smtClean="0"/>
              <a:t>2026-06-26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BD2F5C-53DC-4F42-2469-CD15CDC6A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5370A3-6949-1A01-5EE1-157A1140E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44D4-77B7-42DF-9A14-57C007C8BA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11862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D91C8-80B0-A2BF-16BB-E9E51E0BD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576CF5-A172-CC0F-0D86-4A0937C2E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346BB-77DA-4167-9967-7192FF5BF712}" type="datetimeFigureOut">
              <a:rPr lang="en-CA" smtClean="0"/>
              <a:t>2026-06-26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D7453A-767D-8148-8C0C-809D33AAA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CDC536-8CDF-D02E-6337-6A6ABDA15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44D4-77B7-42DF-9A14-57C007C8BA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65469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36F905-434D-B430-E0F7-3D41B560E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346BB-77DA-4167-9967-7192FF5BF712}" type="datetimeFigureOut">
              <a:rPr lang="en-CA" smtClean="0"/>
              <a:t>2026-06-26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C62361-8FDF-61AA-18F5-D4B87AD6F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CB662-0D8D-2F9E-9B1A-51D86D2D4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44D4-77B7-42DF-9A14-57C007C8BA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5097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8652C-F76C-BBAC-3E52-6C8C60E8A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F3973-DCF4-C6EC-71BC-6B50BE50C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15310C-ACD3-86D3-F355-36A3EE2EBA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C87512-6749-8ABF-36A7-9946340BE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346BB-77DA-4167-9967-7192FF5BF712}" type="datetimeFigureOut">
              <a:rPr lang="en-CA" smtClean="0"/>
              <a:t>2026-06-26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7E46DD-3204-64D8-FB17-0FC1FEA8C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74D03C-9103-5CC7-E41B-0F481E747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44D4-77B7-42DF-9A14-57C007C8BA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1669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D1BC-F01A-65B3-10C5-AEA104B4B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FC8631-6335-0B4F-A2A6-FCED830EBC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620F3E-1AE3-3F61-10A7-A0984ADFD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1E3E79-18B8-E361-1C11-A96013473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346BB-77DA-4167-9967-7192FF5BF712}" type="datetimeFigureOut">
              <a:rPr lang="en-CA" smtClean="0"/>
              <a:t>2026-06-26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E33542-6E0F-E2C3-3C02-CF80DAF2B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280068-14D5-4CB5-9E07-5316D25B0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44D4-77B7-42DF-9A14-57C007C8BA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3799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75603-05D3-9017-930B-400B75352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92416B-437E-3D70-60EB-4BBF7E87E1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C7487-68C7-DBE0-4AFE-BF9CCF90D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346BB-77DA-4167-9967-7192FF5BF712}" type="datetimeFigureOut">
              <a:rPr lang="en-CA" smtClean="0"/>
              <a:t>2026-06-26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85DB5-8878-E218-662D-BDAAF0BB5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20134-BBE8-8CCF-2D64-0724DBEB9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44D4-77B7-42DF-9A14-57C007C8BA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46975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741F05-F08F-2ED6-B595-0E4FC56609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2442CB-02E9-CEF4-23D1-061F9EB52C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AACD6-0C88-B953-B439-51C76E787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346BB-77DA-4167-9967-7192FF5BF712}" type="datetimeFigureOut">
              <a:rPr lang="en-CA" smtClean="0"/>
              <a:t>2026-06-26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72E9D-A3EB-F19B-0DB0-88908B637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9B34E-4205-9B14-1B62-8F45C66A1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44D4-77B7-42DF-9A14-57C007C8BA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4184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13474C-284F-01CD-1D09-11C116DCE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A31A6-3832-0744-BA34-4BDB85F63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FF5C7-B567-0F3F-5EE3-9FDA8197DF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8346BB-77DA-4167-9967-7192FF5BF712}" type="datetimeFigureOut">
              <a:rPr lang="en-CA" smtClean="0"/>
              <a:t>2026-06-26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02E5C-F64B-1BE2-7DDF-B88E10A847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5BEC8-EC6B-082A-2145-8554122478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8D44D4-77B7-42DF-9A14-57C007C8BAF6}" type="slidenum">
              <a:rPr lang="en-CA" smtClean="0"/>
              <a:t>‹#›</a:t>
            </a:fld>
            <a:endParaRPr lang="en-CA"/>
          </a:p>
        </p:txBody>
      </p:sp>
      <p:sp>
        <p:nvSpPr>
          <p:cNvPr id="900" name="Footer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864E37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73422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3A2318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A1B1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231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BE650117-7274-4D1C-A235-53CA5D580775}"/>
              </a:ext>
            </a:extLst>
          </p:cNvPr>
          <p:cNvSpPr/>
          <p:nvPr/>
        </p:nvSpPr>
        <p:spPr>
          <a:xfrm>
            <a:off x="5283200" y="1028700"/>
            <a:ext cx="1625600" cy="1625600"/>
          </a:xfrm>
          <a:prstGeom prst="ellipse">
            <a:avLst/>
          </a:prstGeom>
          <a:solidFill>
            <a:srgbClr val="F4E7D6"/>
          </a:solidFill>
          <a:ln w="19050" cap="flat" cmpd="sng" algn="ctr">
            <a:solidFill>
              <a:srgbClr val="864E3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7A4962-574B-526B-DED7-3B8308319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984500"/>
            <a:ext cx="7620000" cy="1016000"/>
          </a:xfrm>
        </p:spPr>
        <p:txBody>
          <a:bodyPr>
            <a:normAutofit/>
          </a:bodyPr>
          <a:lstStyle/>
          <a:p>
            <a:r>
              <a:rPr lang="en-CA" sz="5400" b="1">
                <a:solidFill>
                  <a:srgbClr val="F1D9BF"/>
                </a:solidFill>
              </a:rPr>
              <a:t>CanAI Cafe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57262A-F8E0-000B-A085-B7A02F23C8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4064000"/>
            <a:ext cx="7620000" cy="508000"/>
          </a:xfrm>
        </p:spPr>
        <p:txBody>
          <a:bodyPr>
            <a:normAutofit/>
          </a:bodyPr>
          <a:lstStyle/>
          <a:p>
            <a:r>
              <a:rPr lang="en-CA" sz="2200">
                <a:solidFill>
                  <a:srgbClr val="BC9F91"/>
                </a:solidFill>
              </a:rPr>
              <a:t>Data-Driven Insights &amp; Revenue Forecast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293A10-C5B1-45D6-9C4A-02F004748335}"/>
              </a:ext>
            </a:extLst>
          </p:cNvPr>
          <p:cNvSpPr txBox="1"/>
          <p:nvPr/>
        </p:nvSpPr>
        <p:spPr>
          <a:xfrm>
            <a:off x="2286000" y="5461000"/>
            <a:ext cx="7620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>
                <a:solidFill>
                  <a:srgbClr val="A6AAA9"/>
                </a:solidFill>
              </a:rPr>
              <a:t>Team A   |   CanAI Garage Hackathon   |   June 2026</a:t>
            </a:r>
            <a:endParaRPr lang="en-CA" sz="1400">
              <a:solidFill>
                <a:srgbClr val="A6AAA9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3C1694-6870-B82C-4E5D-FA9B2E79D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1000" y="120650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53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F422B-28AA-D1D1-CF5E-134E449FE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584200"/>
            <a:ext cx="10160000" cy="635000"/>
          </a:xfrm>
        </p:spPr>
        <p:txBody>
          <a:bodyPr>
            <a:normAutofit/>
          </a:bodyPr>
          <a:lstStyle/>
          <a:p>
            <a:r>
              <a:rPr lang="en-CA" sz="3000" b="1"/>
              <a:t>Problem Statement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3FF17-5A3F-3BA8-7B0D-6CD3FC7D9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16000" y="2413000"/>
            <a:ext cx="4826000" cy="3302000"/>
          </a:xfrm>
        </p:spPr>
        <p:txBody>
          <a:bodyPr/>
          <a:lstStyle/>
          <a:p>
            <a:pPr>
              <a:spcAft>
                <a:spcPts val="900"/>
              </a:spcAft>
              <a:buNone/>
            </a:pPr>
            <a:r>
              <a:rPr lang="en-US" sz="2000" b="1" dirty="0">
                <a:solidFill>
                  <a:srgbClr val="864E37"/>
                </a:solidFill>
              </a:rPr>
              <a:t>The Challenge</a:t>
            </a:r>
          </a:p>
          <a:p>
            <a:pPr marL="300038" indent="-300038">
              <a:lnSpc>
                <a:spcPts val="2300"/>
              </a:lnSpc>
              <a:spcBef>
                <a:spcPts val="1100"/>
              </a:spcBef>
              <a:buFont typeface="Arial"/>
              <a:buChar char="•"/>
            </a:pPr>
            <a:r>
              <a:rPr lang="en-US" sz="1800" dirty="0">
                <a:solidFill>
                  <a:srgbClr val="2A1B12"/>
                </a:solidFill>
              </a:rPr>
              <a:t>~10,000 records from 2023 — full of typos, nulls and inconsistencies</a:t>
            </a:r>
          </a:p>
          <a:p>
            <a:pPr marL="300038" indent="-300038">
              <a:lnSpc>
                <a:spcPts val="2300"/>
              </a:lnSpc>
              <a:spcBef>
                <a:spcPts val="1100"/>
              </a:spcBef>
              <a:buFont typeface="Arial"/>
              <a:buChar char="•"/>
            </a:pPr>
            <a:r>
              <a:rPr lang="en-US" sz="1800" dirty="0">
                <a:solidFill>
                  <a:srgbClr val="2A1B12"/>
                </a:solidFill>
              </a:rPr>
              <a:t>Clean it, understand it, and forecast 6 months of revenue</a:t>
            </a:r>
          </a:p>
          <a:p>
            <a:pPr marL="300038" indent="-300038">
              <a:lnSpc>
                <a:spcPts val="2300"/>
              </a:lnSpc>
              <a:spcBef>
                <a:spcPts val="1100"/>
              </a:spcBef>
              <a:buFont typeface="Arial"/>
              <a:buChar char="•"/>
            </a:pPr>
            <a:r>
              <a:rPr lang="en-US" sz="1800" dirty="0">
                <a:solidFill>
                  <a:srgbClr val="2A1B12"/>
                </a:solidFill>
              </a:rPr>
              <a:t>Turn raw data into decisions the cafe can act 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274178-A477-EB64-63B0-4F81503C48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0000" y="2413000"/>
            <a:ext cx="4826000" cy="3302000"/>
          </a:xfrm>
        </p:spPr>
        <p:txBody>
          <a:bodyPr/>
          <a:lstStyle/>
          <a:p>
            <a:pPr>
              <a:spcAft>
                <a:spcPts val="900"/>
              </a:spcAft>
              <a:buNone/>
            </a:pPr>
            <a:r>
              <a:rPr lang="en-US" sz="2000" b="1" dirty="0">
                <a:solidFill>
                  <a:srgbClr val="864E37"/>
                </a:solidFill>
              </a:rPr>
              <a:t>Three Deliverables</a:t>
            </a:r>
          </a:p>
          <a:p>
            <a:pPr marL="357188" indent="-357188">
              <a:lnSpc>
                <a:spcPts val="2300"/>
              </a:lnSpc>
              <a:spcBef>
                <a:spcPts val="13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2A1B12"/>
                </a:solidFill>
              </a:rPr>
              <a:t>A clean, validated dataset with a full audit trail</a:t>
            </a:r>
          </a:p>
          <a:p>
            <a:pPr marL="357188" indent="-357188">
              <a:lnSpc>
                <a:spcPts val="2300"/>
              </a:lnSpc>
              <a:spcBef>
                <a:spcPts val="13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2A1B12"/>
                </a:solidFill>
              </a:rPr>
              <a:t>Insights across products, regions, time and customer behavior</a:t>
            </a:r>
          </a:p>
          <a:p>
            <a:pPr marL="357188" indent="-357188">
              <a:lnSpc>
                <a:spcPts val="2300"/>
              </a:lnSpc>
              <a:spcBef>
                <a:spcPts val="13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2A1B12"/>
                </a:solidFill>
              </a:rPr>
              <a:t>A 6-month revenue forecast with confidence intervals</a:t>
            </a:r>
          </a:p>
        </p:txBody>
      </p:sp>
      <p:pic>
        <p:nvPicPr>
          <p:cNvPr id="5" name="Copied Picture 5">
            <a:extLst>
              <a:ext uri="{FF2B5EF4-FFF2-40B4-BE49-F238E27FC236}">
                <a16:creationId xmlns:a16="http://schemas.microsoft.com/office/drawing/2014/main" id="{163C1694-6870-B82C-4E5D-FA9B2E79D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355600"/>
            <a:ext cx="482600" cy="4826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E6D7F0A-FB3A-4F72-BFFA-86CF1754F9E7}"/>
              </a:ext>
            </a:extLst>
          </p:cNvPr>
          <p:cNvSpPr/>
          <p:nvPr/>
        </p:nvSpPr>
        <p:spPr>
          <a:xfrm>
            <a:off x="1016000" y="1320800"/>
            <a:ext cx="10160000" cy="27940"/>
          </a:xfrm>
          <a:prstGeom prst="rect">
            <a:avLst/>
          </a:prstGeom>
          <a:solidFill>
            <a:srgbClr val="864E3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FDDF2E-354B-4616-A1C9-FA3AF59565C5}"/>
              </a:ext>
            </a:extLst>
          </p:cNvPr>
          <p:cNvSpPr txBox="1"/>
          <p:nvPr/>
        </p:nvSpPr>
        <p:spPr>
          <a:xfrm>
            <a:off x="1016000" y="1473200"/>
            <a:ext cx="10160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i="1">
                <a:solidFill>
                  <a:srgbClr val="6F4E37"/>
                </a:solidFill>
              </a:rPr>
              <a:t>CanAI Cafe handed us a year of messy transaction data — and one question: where is the business heading?</a:t>
            </a:r>
            <a:endParaRPr lang="en-CA" i="1">
              <a:solidFill>
                <a:srgbClr val="6F4E3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851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B64BB-D62C-F767-6552-83B1A267A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584200"/>
            <a:ext cx="10160000" cy="635000"/>
          </a:xfrm>
        </p:spPr>
        <p:txBody>
          <a:bodyPr>
            <a:normAutofit/>
          </a:bodyPr>
          <a:lstStyle/>
          <a:p>
            <a:r>
              <a:rPr lang="en-CA" sz="3000" b="1"/>
              <a:t>Data Overview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B1BD31-B70D-4636-8BA1-0F734A91183D}"/>
              </a:ext>
            </a:extLst>
          </p:cNvPr>
          <p:cNvSpPr/>
          <p:nvPr/>
        </p:nvSpPr>
        <p:spPr>
          <a:xfrm>
            <a:off x="1016000" y="1320800"/>
            <a:ext cx="10160000" cy="27940"/>
          </a:xfrm>
          <a:prstGeom prst="rect">
            <a:avLst/>
          </a:prstGeom>
          <a:solidFill>
            <a:srgbClr val="864E3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906EDF-EAF2-47EF-8379-4B60CEDDD9E2}"/>
              </a:ext>
            </a:extLst>
          </p:cNvPr>
          <p:cNvSpPr txBox="1"/>
          <p:nvPr/>
        </p:nvSpPr>
        <p:spPr>
          <a:xfrm>
            <a:off x="1016000" y="1447800"/>
            <a:ext cx="10160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i="1">
                <a:solidFill>
                  <a:srgbClr val="6F4E37"/>
                </a:solidFill>
              </a:rPr>
              <a:t>After cleaning: 9,483 transactions across Jan–Dec 2023</a:t>
            </a:r>
            <a:endParaRPr lang="en-CA" i="1">
              <a:solidFill>
                <a:srgbClr val="6F4E37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34B3E9A-27D5-4596-8889-1BB02916C492}"/>
              </a:ext>
            </a:extLst>
          </p:cNvPr>
          <p:cNvSpPr/>
          <p:nvPr/>
        </p:nvSpPr>
        <p:spPr>
          <a:xfrm>
            <a:off x="1016000" y="2133600"/>
            <a:ext cx="2349500" cy="1168400"/>
          </a:xfrm>
          <a:prstGeom prst="roundRect">
            <a:avLst/>
          </a:prstGeom>
          <a:solidFill>
            <a:srgbClr val="EDDB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CA" sz="3000" b="1">
                <a:solidFill>
                  <a:srgbClr val="864E37"/>
                </a:solidFill>
                <a:latin typeface="Georgia"/>
              </a:rPr>
              <a:t>$81,933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AFB69F-3189-442C-BEE3-37D4C4B7D98F}"/>
              </a:ext>
            </a:extLst>
          </p:cNvPr>
          <p:cNvSpPr txBox="1"/>
          <p:nvPr/>
        </p:nvSpPr>
        <p:spPr>
          <a:xfrm>
            <a:off x="939800" y="3352800"/>
            <a:ext cx="25019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CA" sz="1300">
                <a:solidFill>
                  <a:srgbClr val="6F4E37"/>
                </a:solidFill>
              </a:rPr>
              <a:t>Total Revenue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2567754-9518-48C0-A982-D096B2082FEC}"/>
              </a:ext>
            </a:extLst>
          </p:cNvPr>
          <p:cNvSpPr/>
          <p:nvPr/>
        </p:nvSpPr>
        <p:spPr>
          <a:xfrm>
            <a:off x="3619500" y="2133600"/>
            <a:ext cx="2349500" cy="1168400"/>
          </a:xfrm>
          <a:prstGeom prst="roundRect">
            <a:avLst/>
          </a:prstGeom>
          <a:solidFill>
            <a:srgbClr val="EDDB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CA" sz="3000" b="1">
                <a:solidFill>
                  <a:srgbClr val="864E37"/>
                </a:solidFill>
                <a:latin typeface="Georgia"/>
              </a:rPr>
              <a:t>9,483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9745C0-512A-46A6-8EE8-1B1634294FA3}"/>
              </a:ext>
            </a:extLst>
          </p:cNvPr>
          <p:cNvSpPr txBox="1"/>
          <p:nvPr/>
        </p:nvSpPr>
        <p:spPr>
          <a:xfrm>
            <a:off x="3543300" y="3352800"/>
            <a:ext cx="25019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CA" sz="1300">
                <a:solidFill>
                  <a:srgbClr val="6F4E37"/>
                </a:solidFill>
              </a:rPr>
              <a:t>Transactions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5BBA2A4-C5CD-4AAD-8D90-C1BE94717768}"/>
              </a:ext>
            </a:extLst>
          </p:cNvPr>
          <p:cNvSpPr/>
          <p:nvPr/>
        </p:nvSpPr>
        <p:spPr>
          <a:xfrm>
            <a:off x="6223000" y="2133600"/>
            <a:ext cx="2349500" cy="1168400"/>
          </a:xfrm>
          <a:prstGeom prst="roundRect">
            <a:avLst/>
          </a:prstGeom>
          <a:solidFill>
            <a:srgbClr val="EDDB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CA" sz="3000" b="1">
                <a:solidFill>
                  <a:srgbClr val="864E37"/>
                </a:solidFill>
                <a:latin typeface="Georgia"/>
              </a:rPr>
              <a:t>$8.64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302AA6-15CC-4B7B-AD97-D2DABE26010F}"/>
              </a:ext>
            </a:extLst>
          </p:cNvPr>
          <p:cNvSpPr txBox="1"/>
          <p:nvPr/>
        </p:nvSpPr>
        <p:spPr>
          <a:xfrm>
            <a:off x="6146800" y="3352800"/>
            <a:ext cx="25019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CA" sz="1300">
                <a:solidFill>
                  <a:srgbClr val="6F4E37"/>
                </a:solidFill>
              </a:rPr>
              <a:t>Avg Transaction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7BC5AD5-76D3-48C6-B34E-F9780457719A}"/>
              </a:ext>
            </a:extLst>
          </p:cNvPr>
          <p:cNvSpPr/>
          <p:nvPr/>
        </p:nvSpPr>
        <p:spPr>
          <a:xfrm>
            <a:off x="8826500" y="2133600"/>
            <a:ext cx="2349500" cy="1168400"/>
          </a:xfrm>
          <a:prstGeom prst="roundRect">
            <a:avLst/>
          </a:prstGeom>
          <a:solidFill>
            <a:srgbClr val="EDDB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CA" sz="3000" b="1">
                <a:solidFill>
                  <a:srgbClr val="864E37"/>
                </a:solidFill>
                <a:latin typeface="Georgia"/>
              </a:rPr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59A85D-02F2-42A0-9A82-78FC80891C9F}"/>
              </a:ext>
            </a:extLst>
          </p:cNvPr>
          <p:cNvSpPr txBox="1"/>
          <p:nvPr/>
        </p:nvSpPr>
        <p:spPr>
          <a:xfrm>
            <a:off x="8750300" y="3352800"/>
            <a:ext cx="25019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CA" sz="1300">
                <a:solidFill>
                  <a:srgbClr val="6F4E37"/>
                </a:solidFill>
              </a:rPr>
              <a:t>Products · Bev/Food 50-50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0C5A07-F753-48B8-A7DF-71F352686053}"/>
              </a:ext>
            </a:extLst>
          </p:cNvPr>
          <p:cNvSpPr txBox="1"/>
          <p:nvPr/>
        </p:nvSpPr>
        <p:spPr>
          <a:xfrm>
            <a:off x="1016000" y="4013200"/>
            <a:ext cx="10160000" cy="151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lnSpc>
                <a:spcPts val="2200"/>
              </a:lnSpc>
              <a:spcAft>
                <a:spcPts val="700"/>
              </a:spcAft>
              <a:buNone/>
            </a:pPr>
            <a:r>
              <a:rPr lang="en-US" sz="1800" b="1" dirty="0">
                <a:solidFill>
                  <a:srgbClr val="864E37"/>
                </a:solidFill>
              </a:rPr>
              <a:t>5 Provinces   </a:t>
            </a:r>
            <a:r>
              <a:rPr lang="en-US" sz="1800" dirty="0">
                <a:solidFill>
                  <a:srgbClr val="2A1B12"/>
                </a:solidFill>
              </a:rPr>
              <a:t>British Columbia · Newfoundland &amp; Labrador · Saskatchewan · Manitoba · Ontario</a:t>
            </a:r>
          </a:p>
          <a:p>
            <a:pPr>
              <a:lnSpc>
                <a:spcPts val="2200"/>
              </a:lnSpc>
              <a:spcAft>
                <a:spcPts val="700"/>
              </a:spcAft>
              <a:buNone/>
            </a:pPr>
            <a:r>
              <a:rPr lang="en-US" sz="1800" b="1" dirty="0">
                <a:solidFill>
                  <a:srgbClr val="864E37"/>
                </a:solidFill>
              </a:rPr>
              <a:t>Channels   </a:t>
            </a:r>
            <a:r>
              <a:rPr lang="en-US" sz="1800" dirty="0">
                <a:solidFill>
                  <a:srgbClr val="2A1B12"/>
                </a:solidFill>
              </a:rPr>
              <a:t>In-store 59% · Takeaway 32% · Unknown 9%</a:t>
            </a:r>
          </a:p>
          <a:p>
            <a:pPr>
              <a:lnSpc>
                <a:spcPts val="2200"/>
              </a:lnSpc>
              <a:spcAft>
                <a:spcPts val="700"/>
              </a:spcAft>
              <a:buNone/>
            </a:pPr>
            <a:r>
              <a:rPr lang="en-US" sz="1800" b="1" dirty="0">
                <a:solidFill>
                  <a:srgbClr val="864E37"/>
                </a:solidFill>
              </a:rPr>
              <a:t>Payments   </a:t>
            </a:r>
            <a:r>
              <a:rPr lang="en-US" sz="1800" dirty="0">
                <a:solidFill>
                  <a:srgbClr val="2A1B12"/>
                </a:solidFill>
              </a:rPr>
              <a:t>Credit Card 40% · Digital Wallet 30% · Cash 25% · Unknown 5%</a:t>
            </a:r>
          </a:p>
          <a:p>
            <a:pPr>
              <a:spcBef>
                <a:spcPts val="600"/>
              </a:spcBef>
              <a:buNone/>
            </a:pPr>
            <a:r>
              <a:rPr lang="en-US" sz="1500" i="1" dirty="0">
                <a:solidFill>
                  <a:srgbClr val="8A8F8E"/>
                </a:solidFill>
              </a:rPr>
              <a:t>A full calendar year — enough to detect weekly and monthly patterns, though not year-over-year trends.</a:t>
            </a:r>
          </a:p>
        </p:txBody>
      </p:sp>
      <p:pic>
        <p:nvPicPr>
          <p:cNvPr id="14" name="Copied Picture 14">
            <a:extLst>
              <a:ext uri="{FF2B5EF4-FFF2-40B4-BE49-F238E27FC236}">
                <a16:creationId xmlns:a16="http://schemas.microsoft.com/office/drawing/2014/main" id="{163C1694-6870-B82C-4E5D-FA9B2E79D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355600"/>
            <a:ext cx="4826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71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4C027-1202-BA5A-6D88-EB268B1EC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584200"/>
            <a:ext cx="10160000" cy="635000"/>
          </a:xfrm>
        </p:spPr>
        <p:txBody>
          <a:bodyPr>
            <a:normAutofit/>
          </a:bodyPr>
          <a:lstStyle/>
          <a:p>
            <a:r>
              <a:rPr lang="en-CA" sz="3000" b="1"/>
              <a:t>Data Quality &amp;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DDED1-A2CE-7ECA-B6B9-BCCEDEB7D8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16000" y="2413000"/>
            <a:ext cx="4826000" cy="3238500"/>
          </a:xfrm>
        </p:spPr>
        <p:txBody>
          <a:bodyPr>
            <a:normAutofit lnSpcReduction="10000"/>
          </a:bodyPr>
          <a:lstStyle/>
          <a:p>
            <a:pPr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864E37"/>
                </a:solidFill>
              </a:rPr>
              <a:t>The Mess</a:t>
            </a:r>
          </a:p>
          <a:p>
            <a:pPr marL="285750" indent="-285750">
              <a:lnSpc>
                <a:spcPts val="2000"/>
              </a:lnSpc>
              <a:spcBef>
                <a:spcPts val="800"/>
              </a:spcBef>
              <a:buFont typeface="Arial"/>
              <a:buChar char="•"/>
            </a:pPr>
            <a:r>
              <a:rPr lang="en-US" sz="1600" dirty="0">
                <a:solidFill>
                  <a:srgbClr val="2A1B12"/>
                </a:solidFill>
              </a:rPr>
              <a:t>1,243 item-name typos — “cofee”, “C0ffee”, “Sandwhich”, “Donutt”</a:t>
            </a:r>
          </a:p>
          <a:p>
            <a:pPr marL="285750" indent="-285750">
              <a:lnSpc>
                <a:spcPts val="2000"/>
              </a:lnSpc>
              <a:spcBef>
                <a:spcPts val="800"/>
              </a:spcBef>
              <a:buFont typeface="Arial"/>
              <a:buChar char="•"/>
            </a:pPr>
            <a:r>
              <a:rPr lang="en-US" sz="1600" dirty="0">
                <a:solidFill>
                  <a:srgbClr val="2A1B12"/>
                </a:solidFill>
              </a:rPr>
              <a:t>3,421 province-name variants — abbreviations mixed with full names</a:t>
            </a:r>
          </a:p>
          <a:p>
            <a:pPr marL="285750" indent="-285750">
              <a:lnSpc>
                <a:spcPts val="2000"/>
              </a:lnSpc>
              <a:spcBef>
                <a:spcPts val="800"/>
              </a:spcBef>
              <a:buFont typeface="Arial"/>
              <a:buChar char="•"/>
            </a:pPr>
            <a:r>
              <a:rPr lang="en-US" sz="1600" dirty="0">
                <a:solidFill>
                  <a:srgbClr val="2A1B12"/>
                </a:solidFill>
              </a:rPr>
              <a:t>84 duplicate Transaction IDs — dropped as a precaution</a:t>
            </a:r>
          </a:p>
          <a:p>
            <a:pPr marL="285750" indent="-285750">
              <a:lnSpc>
                <a:spcPts val="2000"/>
              </a:lnSpc>
              <a:spcBef>
                <a:spcPts val="800"/>
              </a:spcBef>
              <a:buFont typeface="Arial"/>
              <a:buChar char="•"/>
            </a:pPr>
            <a:r>
              <a:rPr lang="en-US" sz="1600" dirty="0">
                <a:solidFill>
                  <a:srgbClr val="2A1B12"/>
                </a:solidFill>
              </a:rPr>
              <a:t>63 unparseable dates &amp; error codes (e.g. “ERR_PM_102”)</a:t>
            </a:r>
          </a:p>
          <a:p>
            <a:pPr marL="285750" indent="-285750">
              <a:lnSpc>
                <a:spcPts val="2000"/>
              </a:lnSpc>
              <a:spcBef>
                <a:spcPts val="800"/>
              </a:spcBef>
              <a:buFont typeface="Arial"/>
              <a:buChar char="•"/>
            </a:pPr>
            <a:r>
              <a:rPr lang="en-US" sz="1600" dirty="0">
                <a:solidFill>
                  <a:srgbClr val="2A1B12"/>
                </a:solidFill>
              </a:rPr>
              <a:t>Null values in 6 of 9 columns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275371-339E-8012-F3E6-5AFAECF99C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0000" y="2413000"/>
            <a:ext cx="4826000" cy="3238500"/>
          </a:xfrm>
        </p:spPr>
        <p:txBody>
          <a:bodyPr>
            <a:normAutofit lnSpcReduction="10000"/>
          </a:bodyPr>
          <a:lstStyle/>
          <a:p>
            <a:pPr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864E37"/>
                </a:solidFill>
              </a:rPr>
              <a:t>What We Fixed</a:t>
            </a:r>
          </a:p>
          <a:p>
            <a:pPr marL="285750" indent="-285750">
              <a:lnSpc>
                <a:spcPts val="2000"/>
              </a:lnSpc>
              <a:spcBef>
                <a:spcPts val="800"/>
              </a:spcBef>
              <a:buFont typeface="Arial"/>
              <a:buChar char="•"/>
            </a:pPr>
            <a:r>
              <a:rPr lang="en-US" sz="1600" dirty="0">
                <a:solidFill>
                  <a:srgbClr val="2A1B12"/>
                </a:solidFill>
              </a:rPr>
              <a:t>10,000 → 9,483 rows — 94.8% retained</a:t>
            </a:r>
          </a:p>
          <a:p>
            <a:pPr marL="285750" indent="-285750">
              <a:lnSpc>
                <a:spcPts val="2000"/>
              </a:lnSpc>
              <a:spcBef>
                <a:spcPts val="800"/>
              </a:spcBef>
              <a:buFont typeface="Arial"/>
              <a:buChar char="•"/>
            </a:pPr>
            <a:r>
              <a:rPr lang="en-US" sz="1600" dirty="0">
                <a:solidFill>
                  <a:srgbClr val="2A1B12"/>
                </a:solidFill>
              </a:rPr>
              <a:t>Every typo mapped to a canonical name (5+ variants per product)</a:t>
            </a:r>
          </a:p>
          <a:p>
            <a:pPr marL="285750" indent="-285750">
              <a:lnSpc>
                <a:spcPts val="2000"/>
              </a:lnSpc>
              <a:spcBef>
                <a:spcPts val="800"/>
              </a:spcBef>
              <a:buFont typeface="Arial"/>
              <a:buChar char="•"/>
            </a:pPr>
            <a:r>
              <a:rPr lang="en-US" sz="1600" dirty="0">
                <a:solidFill>
                  <a:srgbClr val="2A1B12"/>
                </a:solidFill>
              </a:rPr>
              <a:t>Remaining nulls filled “Unknown” — Payment 5.5%, Location 8.8%, Province 4.2%</a:t>
            </a:r>
          </a:p>
          <a:p>
            <a:pPr marL="285750" indent="-285750">
              <a:lnSpc>
                <a:spcPts val="2000"/>
              </a:lnSpc>
              <a:spcBef>
                <a:spcPts val="800"/>
              </a:spcBef>
              <a:buFont typeface="Arial"/>
              <a:buChar char="•"/>
            </a:pPr>
            <a:r>
              <a:rPr lang="en-US" sz="1600" dirty="0">
                <a:solidFill>
                  <a:srgbClr val="2A1B12"/>
                </a:solidFill>
              </a:rPr>
              <a:t>Full cleaning audit log for full reproducibility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EF1351-F76A-4493-89BA-8E453249A4C1}"/>
              </a:ext>
            </a:extLst>
          </p:cNvPr>
          <p:cNvSpPr/>
          <p:nvPr/>
        </p:nvSpPr>
        <p:spPr>
          <a:xfrm>
            <a:off x="1016000" y="1320800"/>
            <a:ext cx="10160000" cy="27940"/>
          </a:xfrm>
          <a:prstGeom prst="rect">
            <a:avLst/>
          </a:prstGeom>
          <a:solidFill>
            <a:srgbClr val="864E3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B21517-44AD-4FF2-836F-99290C4C3C70}"/>
              </a:ext>
            </a:extLst>
          </p:cNvPr>
          <p:cNvSpPr txBox="1"/>
          <p:nvPr/>
        </p:nvSpPr>
        <p:spPr>
          <a:xfrm>
            <a:off x="1016000" y="1473200"/>
            <a:ext cx="1016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i="1">
                <a:solidFill>
                  <a:srgbClr val="6F4E37"/>
                </a:solidFill>
              </a:rPr>
              <a:t>The raw data was intentionally messy — here is what we found, and how we fixed it.</a:t>
            </a:r>
            <a:endParaRPr lang="en-CA" i="1">
              <a:solidFill>
                <a:srgbClr val="6F4E37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8AF2F8-B071-4576-9F1D-995CD558C13B}"/>
              </a:ext>
            </a:extLst>
          </p:cNvPr>
          <p:cNvSpPr txBox="1"/>
          <p:nvPr/>
        </p:nvSpPr>
        <p:spPr>
          <a:xfrm>
            <a:off x="1016000" y="5740400"/>
            <a:ext cx="1016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A6AAA9"/>
                </a:solidFill>
              </a:rPr>
              <a:t>Dirty data leads to wrong conclusions — every insight that follows is built on a validated foundation.</a:t>
            </a:r>
            <a:endParaRPr lang="en-CA" sz="1400" i="1">
              <a:solidFill>
                <a:srgbClr val="A6AAA9"/>
              </a:solidFill>
            </a:endParaRPr>
          </a:p>
        </p:txBody>
      </p:sp>
      <p:pic>
        <p:nvPicPr>
          <p:cNvPr id="8" name="Copied Picture 8">
            <a:extLst>
              <a:ext uri="{FF2B5EF4-FFF2-40B4-BE49-F238E27FC236}">
                <a16:creationId xmlns:a16="http://schemas.microsoft.com/office/drawing/2014/main" id="{163C1694-6870-B82C-4E5D-FA9B2E79D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355600"/>
            <a:ext cx="4826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600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9AD3F-B162-202B-E329-9170F65DA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584200"/>
            <a:ext cx="10160000" cy="635000"/>
          </a:xfrm>
        </p:spPr>
        <p:txBody>
          <a:bodyPr>
            <a:normAutofit/>
          </a:bodyPr>
          <a:lstStyle/>
          <a:p>
            <a:r>
              <a:rPr lang="en-CA" sz="3000" b="1"/>
              <a:t>Sales Trends &amp; Timing Patterns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9EF351-5880-4780-8E5F-7BE0CC3B04D1}"/>
              </a:ext>
            </a:extLst>
          </p:cNvPr>
          <p:cNvSpPr/>
          <p:nvPr/>
        </p:nvSpPr>
        <p:spPr>
          <a:xfrm>
            <a:off x="1016000" y="1320800"/>
            <a:ext cx="10160000" cy="27940"/>
          </a:xfrm>
          <a:prstGeom prst="rect">
            <a:avLst/>
          </a:prstGeom>
          <a:solidFill>
            <a:srgbClr val="864E3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D53DF1-F1C4-480D-B4BC-C199B8FB7FC9}"/>
              </a:ext>
            </a:extLst>
          </p:cNvPr>
          <p:cNvSpPr txBox="1"/>
          <p:nvPr/>
        </p:nvSpPr>
        <p:spPr>
          <a:xfrm>
            <a:off x="1016000" y="1422400"/>
            <a:ext cx="1016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i="1">
                <a:solidFill>
                  <a:srgbClr val="6F4E37"/>
                </a:solidFill>
              </a:rPr>
              <a:t>Revenue is flat and stable all year — and the cafe is overwhelmingly a weekday business.</a:t>
            </a:r>
            <a:endParaRPr lang="en-CA" sz="1700" i="1">
              <a:solidFill>
                <a:srgbClr val="6F4E37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613682-5AC4-4AB2-8889-7F6F6552C984}"/>
              </a:ext>
            </a:extLst>
          </p:cNvPr>
          <p:cNvSpPr txBox="1"/>
          <p:nvPr/>
        </p:nvSpPr>
        <p:spPr>
          <a:xfrm>
            <a:off x="889000" y="1905000"/>
            <a:ext cx="5270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CA" sz="1500" b="1">
                <a:solidFill>
                  <a:srgbClr val="864E37"/>
                </a:solidFill>
              </a:rPr>
              <a:t>Monthly revenue &amp; transactions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B06CE3-C5F8-4800-9591-9009A1521BC4}"/>
              </a:ext>
            </a:extLst>
          </p:cNvPr>
          <p:cNvSpPr txBox="1"/>
          <p:nvPr/>
        </p:nvSpPr>
        <p:spPr>
          <a:xfrm>
            <a:off x="6324600" y="1905000"/>
            <a:ext cx="5270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864E37"/>
                </a:solidFill>
              </a:rPr>
              <a:t>Revenue by day of week</a:t>
            </a:r>
            <a:endParaRPr lang="en-CA" sz="1500" b="1">
              <a:solidFill>
                <a:srgbClr val="864E37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B1B0CF-43AF-F356-650D-06B756EDD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2260600"/>
            <a:ext cx="5270500" cy="21527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343F24-DC18-5FDD-B2BC-61B8E629A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260600"/>
            <a:ext cx="5270500" cy="19481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63892FA-91A2-4A46-A56A-BC049FB9DCFC}"/>
              </a:ext>
            </a:extLst>
          </p:cNvPr>
          <p:cNvSpPr txBox="1"/>
          <p:nvPr/>
        </p:nvSpPr>
        <p:spPr>
          <a:xfrm>
            <a:off x="1016000" y="4597400"/>
            <a:ext cx="10160000" cy="131023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85750" indent="-285750">
              <a:lnSpc>
                <a:spcPts val="2100"/>
              </a:lnSpc>
              <a:spcBef>
                <a:spcPts val="600"/>
              </a:spcBef>
              <a:buFont typeface="Arial"/>
              <a:buChar char="•"/>
            </a:pPr>
            <a:r>
              <a:rPr lang="en-US" sz="1600" b="1" dirty="0">
                <a:solidFill>
                  <a:srgbClr val="864E37"/>
                </a:solidFill>
              </a:rPr>
              <a:t>Flat &amp; stable — </a:t>
            </a:r>
            <a:r>
              <a:rPr lang="en-US" sz="1600" dirty="0">
                <a:solidFill>
                  <a:srgbClr val="2A1B12"/>
                </a:solidFill>
              </a:rPr>
              <a:t>monthly revenue held a tight $6,268–$7,470 band (avg $6,828); no seasonality or trend</a:t>
            </a:r>
          </a:p>
          <a:p>
            <a:pPr marL="285750" indent="-285750">
              <a:lnSpc>
                <a:spcPts val="2100"/>
              </a:lnSpc>
              <a:spcBef>
                <a:spcPts val="600"/>
              </a:spcBef>
              <a:buFont typeface="Arial"/>
              <a:buChar char="•"/>
            </a:pPr>
            <a:r>
              <a:rPr lang="en-US" sz="1600" b="1" dirty="0">
                <a:solidFill>
                  <a:srgbClr val="864E37"/>
                </a:solidFill>
              </a:rPr>
              <a:t>Weekday-driven — </a:t>
            </a:r>
            <a:r>
              <a:rPr lang="en-US" sz="1600" dirty="0">
                <a:solidFill>
                  <a:srgbClr val="2A1B12"/>
                </a:solidFill>
              </a:rPr>
              <a:t>88.6% of transactions land Mon–Fri; weekend visitors actually spend slightly more ($8.77 vs $8.62)</a:t>
            </a:r>
          </a:p>
          <a:p>
            <a:pPr marL="285750" indent="-285750">
              <a:lnSpc>
                <a:spcPts val="2100"/>
              </a:lnSpc>
              <a:spcBef>
                <a:spcPts val="600"/>
              </a:spcBef>
              <a:buFont typeface="Arial"/>
              <a:buChar char="•"/>
            </a:pPr>
            <a:r>
              <a:rPr lang="en-US" sz="1600" b="1" dirty="0">
                <a:solidFill>
                  <a:srgbClr val="864E37"/>
                </a:solidFill>
              </a:rPr>
              <a:t>Dominant signal — </a:t>
            </a:r>
            <a:r>
              <a:rPr lang="en-US" sz="1600" dirty="0">
                <a:solidFill>
                  <a:srgbClr val="2A1B12"/>
                </a:solidFill>
              </a:rPr>
              <a:t>a repeating 7-day weekly cycle (0.74 autocorrelation at lag 7)</a:t>
            </a:r>
          </a:p>
        </p:txBody>
      </p:sp>
      <p:pic>
        <p:nvPicPr>
          <p:cNvPr id="10" name="Copied Picture 10">
            <a:extLst>
              <a:ext uri="{FF2B5EF4-FFF2-40B4-BE49-F238E27FC236}">
                <a16:creationId xmlns:a16="http://schemas.microsoft.com/office/drawing/2014/main" id="{163C1694-6870-B82C-4E5D-FA9B2E79DB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355600"/>
            <a:ext cx="4826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705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EC00A-06AF-5E92-E842-DC5B00033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584200"/>
            <a:ext cx="10160000" cy="635000"/>
          </a:xfrm>
        </p:spPr>
        <p:txBody>
          <a:bodyPr>
            <a:normAutofit/>
          </a:bodyPr>
          <a:lstStyle/>
          <a:p>
            <a:r>
              <a:rPr lang="en-CA" sz="3000" b="1"/>
              <a:t>Product Performance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54299D-7656-4033-82E1-0677A1DEC0E1}"/>
              </a:ext>
            </a:extLst>
          </p:cNvPr>
          <p:cNvSpPr/>
          <p:nvPr/>
        </p:nvSpPr>
        <p:spPr>
          <a:xfrm>
            <a:off x="1016000" y="1320800"/>
            <a:ext cx="10160000" cy="27940"/>
          </a:xfrm>
          <a:prstGeom prst="rect">
            <a:avLst/>
          </a:prstGeom>
          <a:solidFill>
            <a:srgbClr val="864E3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4F39B0A-69F7-48A2-9441-5498E426DD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8369555"/>
              </p:ext>
            </p:extLst>
          </p:nvPr>
        </p:nvGraphicFramePr>
        <p:xfrm>
          <a:off x="939800" y="1625600"/>
          <a:ext cx="4826000" cy="2857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500">
                  <a:extLst>
                    <a:ext uri="{9D8B030D-6E8A-4147-A177-3AD203B41FA5}">
                      <a16:colId xmlns:a16="http://schemas.microsoft.com/office/drawing/2014/main" val="1565191749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57668779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142564010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16286165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CA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Product</a:t>
                      </a:r>
                    </a:p>
                  </a:txBody>
                  <a:tcPr anchor="ctr">
                    <a:solidFill>
                      <a:srgbClr val="864E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Rev Share</a:t>
                      </a:r>
                    </a:p>
                  </a:txBody>
                  <a:tcPr anchor="ctr">
                    <a:solidFill>
                      <a:srgbClr val="864E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Units</a:t>
                      </a:r>
                    </a:p>
                  </a:txBody>
                  <a:tcPr anchor="ctr">
                    <a:solidFill>
                      <a:srgbClr val="864E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Avg Order</a:t>
                      </a:r>
                    </a:p>
                  </a:txBody>
                  <a:tcPr anchor="ctr">
                    <a:solidFill>
                      <a:srgbClr val="864E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0895617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/>
                      <a:r>
                        <a:rPr lang="en-CA" sz="125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Sandwich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5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23.8%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5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2,434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5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$15.91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96322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/>
                      <a:r>
                        <a:rPr lang="en-CA" sz="125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Coffee</a:t>
                      </a:r>
                    </a:p>
                  </a:txBody>
                  <a:tcPr anchor="ctr"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5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22.4%</a:t>
                      </a:r>
                    </a:p>
                  </a:txBody>
                  <a:tcPr anchor="ctr"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5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5,254</a:t>
                      </a:r>
                    </a:p>
                  </a:txBody>
                  <a:tcPr anchor="ctr"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5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$6.91</a:t>
                      </a:r>
                    </a:p>
                  </a:txBody>
                  <a:tcPr anchor="ctr">
                    <a:solidFill>
                      <a:srgbClr val="F4E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16178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/>
                      <a:r>
                        <a:rPr lang="en-CA" sz="125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Salad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5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15.8%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5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1,437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5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$17.96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9631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/>
                      <a:r>
                        <a:rPr lang="en-CA" sz="125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Tea</a:t>
                      </a:r>
                    </a:p>
                  </a:txBody>
                  <a:tcPr anchor="ctr"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5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11.0%</a:t>
                      </a:r>
                    </a:p>
                  </a:txBody>
                  <a:tcPr anchor="ctr"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5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2,997</a:t>
                      </a:r>
                    </a:p>
                  </a:txBody>
                  <a:tcPr anchor="ctr"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5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$5.99</a:t>
                      </a:r>
                    </a:p>
                  </a:txBody>
                  <a:tcPr anchor="ctr">
                    <a:solidFill>
                      <a:srgbClr val="F4E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839547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/>
                      <a:r>
                        <a:rPr lang="en-CA" sz="125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Refresher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5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9.4%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5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1,538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5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$9.97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83438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/>
                      <a:r>
                        <a:rPr lang="en-CA" sz="125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Juice</a:t>
                      </a:r>
                    </a:p>
                  </a:txBody>
                  <a:tcPr anchor="ctr"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5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6.9%</a:t>
                      </a:r>
                    </a:p>
                  </a:txBody>
                  <a:tcPr anchor="ctr"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5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1,258</a:t>
                      </a:r>
                    </a:p>
                  </a:txBody>
                  <a:tcPr anchor="ctr"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5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$8.99</a:t>
                      </a:r>
                    </a:p>
                  </a:txBody>
                  <a:tcPr anchor="ctr">
                    <a:solidFill>
                      <a:srgbClr val="F4E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6856469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/>
                      <a:r>
                        <a:rPr lang="en-CA" sz="125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Cookie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5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5.6%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5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1,837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5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$5.05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843976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/>
                      <a:r>
                        <a:rPr lang="en-CA" sz="125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Donut</a:t>
                      </a:r>
                    </a:p>
                  </a:txBody>
                  <a:tcPr anchor="ctr"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5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5.1%</a:t>
                      </a:r>
                    </a:p>
                  </a:txBody>
                  <a:tcPr anchor="ctr"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5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2,102</a:t>
                      </a:r>
                    </a:p>
                  </a:txBody>
                  <a:tcPr anchor="ctr"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5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$3.94</a:t>
                      </a:r>
                    </a:p>
                  </a:txBody>
                  <a:tcPr anchor="ctr">
                    <a:solidFill>
                      <a:srgbClr val="F4E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692009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F9B2E27-4FFC-4876-BEBF-3E5D288E5171}"/>
              </a:ext>
            </a:extLst>
          </p:cNvPr>
          <p:cNvSpPr txBox="1"/>
          <p:nvPr/>
        </p:nvSpPr>
        <p:spPr>
          <a:xfrm>
            <a:off x="6019800" y="1524000"/>
            <a:ext cx="533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864E37"/>
                </a:solidFill>
              </a:rPr>
              <a:t>Revenue, units &amp; avg order by product</a:t>
            </a:r>
            <a:endParaRPr lang="en-CA" sz="1500" b="1">
              <a:solidFill>
                <a:srgbClr val="864E37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7B91B3-960B-4A0C-A1FC-BCA2C0E3E361}"/>
              </a:ext>
            </a:extLst>
          </p:cNvPr>
          <p:cNvSpPr txBox="1"/>
          <p:nvPr/>
        </p:nvSpPr>
        <p:spPr>
          <a:xfrm>
            <a:off x="939800" y="4978400"/>
            <a:ext cx="4826000" cy="152150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57175" indent="-257175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2A1B12"/>
                </a:solidFill>
              </a:rPr>
              <a:t>Coffee leads on volume (5,254 units); Sandwich leads on revenue at $15.91 vs $6.91 per order</a:t>
            </a:r>
          </a:p>
          <a:p>
            <a:pPr marL="257175" indent="-257175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2A1B12"/>
                </a:solidFill>
              </a:rPr>
              <a:t>Salad is the premium item — $17.96 avg order, fewest transactions</a:t>
            </a:r>
          </a:p>
          <a:p>
            <a:pPr marL="257175" indent="-257175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2A1B12"/>
                </a:solidFill>
              </a:rPr>
              <a:t>Beverages &amp; Food split revenue ~50/50; bottom three products are just 17.6%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ECA3BE-0606-ADDA-C810-5DB865F64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1905000"/>
            <a:ext cx="5334000" cy="3966250"/>
          </a:xfrm>
          <a:prstGeom prst="rect">
            <a:avLst/>
          </a:prstGeom>
        </p:spPr>
      </p:pic>
      <p:pic>
        <p:nvPicPr>
          <p:cNvPr id="9" name="Copied Picture 9">
            <a:extLst>
              <a:ext uri="{FF2B5EF4-FFF2-40B4-BE49-F238E27FC236}">
                <a16:creationId xmlns:a16="http://schemas.microsoft.com/office/drawing/2014/main" id="{163C1694-6870-B82C-4E5D-FA9B2E79D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"/>
            <a:ext cx="4826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69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D5D8C-2A65-C170-C3D1-D6D4C53CE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584200"/>
            <a:ext cx="10160000" cy="635000"/>
          </a:xfrm>
        </p:spPr>
        <p:txBody>
          <a:bodyPr>
            <a:normAutofit/>
          </a:bodyPr>
          <a:lstStyle/>
          <a:p>
            <a:r>
              <a:rPr lang="en-CA" sz="3000" b="1"/>
              <a:t>Regional Performance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91372E-2C1A-4783-A8B2-6877BE889429}"/>
              </a:ext>
            </a:extLst>
          </p:cNvPr>
          <p:cNvSpPr/>
          <p:nvPr/>
        </p:nvSpPr>
        <p:spPr>
          <a:xfrm>
            <a:off x="1016000" y="1320800"/>
            <a:ext cx="10160000" cy="27940"/>
          </a:xfrm>
          <a:prstGeom prst="rect">
            <a:avLst/>
          </a:prstGeom>
          <a:solidFill>
            <a:srgbClr val="864E3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0FD0E1-BC29-4BF2-8C96-626E94D3E2DF}"/>
              </a:ext>
            </a:extLst>
          </p:cNvPr>
          <p:cNvSpPr txBox="1"/>
          <p:nvPr/>
        </p:nvSpPr>
        <p:spPr>
          <a:xfrm>
            <a:off x="1016000" y="1422400"/>
            <a:ext cx="1016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i="1">
                <a:solidFill>
                  <a:srgbClr val="6F4E37"/>
                </a:solidFill>
              </a:rPr>
              <a:t>Same spending everywhere — BC's lead is about traffic volume, not bigger baskets.</a:t>
            </a:r>
            <a:endParaRPr lang="en-CA" i="1">
              <a:solidFill>
                <a:srgbClr val="6F4E37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F5D2E34-1B86-4411-89E7-FDC4480177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912511"/>
              </p:ext>
            </p:extLst>
          </p:nvPr>
        </p:nvGraphicFramePr>
        <p:xfrm>
          <a:off x="939800" y="4826000"/>
          <a:ext cx="10312400" cy="1524000"/>
        </p:xfrm>
        <a:graphic>
          <a:graphicData uri="http://schemas.openxmlformats.org/drawingml/2006/table">
            <a:tbl>
              <a:tblPr/>
              <a:tblGrid>
                <a:gridCol w="2062480">
                  <a:extLst>
                    <a:ext uri="{9D8B030D-6E8A-4147-A177-3AD203B41FA5}">
                      <a16:colId xmlns:a16="http://schemas.microsoft.com/office/drawing/2014/main" val="2497346792"/>
                    </a:ext>
                  </a:extLst>
                </a:gridCol>
                <a:gridCol w="2062480">
                  <a:extLst>
                    <a:ext uri="{9D8B030D-6E8A-4147-A177-3AD203B41FA5}">
                      <a16:colId xmlns:a16="http://schemas.microsoft.com/office/drawing/2014/main" val="1963290186"/>
                    </a:ext>
                  </a:extLst>
                </a:gridCol>
                <a:gridCol w="2062480">
                  <a:extLst>
                    <a:ext uri="{9D8B030D-6E8A-4147-A177-3AD203B41FA5}">
                      <a16:colId xmlns:a16="http://schemas.microsoft.com/office/drawing/2014/main" val="1442396776"/>
                    </a:ext>
                  </a:extLst>
                </a:gridCol>
                <a:gridCol w="2062480">
                  <a:extLst>
                    <a:ext uri="{9D8B030D-6E8A-4147-A177-3AD203B41FA5}">
                      <a16:colId xmlns:a16="http://schemas.microsoft.com/office/drawing/2014/main" val="2759629337"/>
                    </a:ext>
                  </a:extLst>
                </a:gridCol>
                <a:gridCol w="2062480">
                  <a:extLst>
                    <a:ext uri="{9D8B030D-6E8A-4147-A177-3AD203B41FA5}">
                      <a16:colId xmlns:a16="http://schemas.microsoft.com/office/drawing/2014/main" val="138859735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algn="ctr"/>
                      <a:r>
                        <a:rPr lang="en-CA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Province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864E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Revenue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864E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Share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864E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Transactions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864E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Avg Order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864E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04459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lang="en-CA" sz="12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British Columbia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$27,000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34.3%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3,114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$8.67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76428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lang="en-CA" sz="12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Newfoundland &amp; Labrador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$19,709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25.1%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2,260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$8.72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E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145085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lang="en-CA" sz="12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Saskatchewan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$16,355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20.8%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1,876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$8.72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79275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lang="en-CA" sz="12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Manitoba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$15,457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19.6%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1,819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$8.50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E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548581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lang="en-CA" sz="12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Ontario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$158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0.2%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18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$8.78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005479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4E5DB787-60BB-EFEB-8C7D-DBCC621BA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000" y="2184400"/>
            <a:ext cx="8890000" cy="2514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677894-6F6D-437C-8AA2-56D72B940F03}"/>
              </a:ext>
            </a:extLst>
          </p:cNvPr>
          <p:cNvSpPr txBox="1"/>
          <p:nvPr/>
        </p:nvSpPr>
        <p:spPr>
          <a:xfrm>
            <a:off x="1016000" y="18542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864E37"/>
                </a:solidFill>
              </a:rPr>
              <a:t>Total revenue · avg order value · revenue share by province</a:t>
            </a:r>
            <a:endParaRPr lang="en-CA" sz="1500" b="1">
              <a:solidFill>
                <a:srgbClr val="864E37"/>
              </a:solidFill>
            </a:endParaRPr>
          </a:p>
        </p:txBody>
      </p:sp>
      <p:pic>
        <p:nvPicPr>
          <p:cNvPr id="9" name="Copied Picture 9">
            <a:extLst>
              <a:ext uri="{FF2B5EF4-FFF2-40B4-BE49-F238E27FC236}">
                <a16:creationId xmlns:a16="http://schemas.microsoft.com/office/drawing/2014/main" id="{163C1694-6870-B82C-4E5D-FA9B2E79D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"/>
            <a:ext cx="4826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702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1802D-57FF-C608-4F8D-F6004E75E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584200"/>
            <a:ext cx="10160000" cy="635000"/>
          </a:xfrm>
        </p:spPr>
        <p:txBody>
          <a:bodyPr>
            <a:normAutofit/>
          </a:bodyPr>
          <a:lstStyle/>
          <a:p>
            <a:r>
              <a:rPr lang="en-CA" sz="3000" b="1"/>
              <a:t>Channel &amp; Payment Insights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38E88B-7513-4176-A0B2-09E6B271F985}"/>
              </a:ext>
            </a:extLst>
          </p:cNvPr>
          <p:cNvSpPr/>
          <p:nvPr/>
        </p:nvSpPr>
        <p:spPr>
          <a:xfrm>
            <a:off x="1016000" y="1320800"/>
            <a:ext cx="10160000" cy="27940"/>
          </a:xfrm>
          <a:prstGeom prst="rect">
            <a:avLst/>
          </a:prstGeom>
          <a:solidFill>
            <a:srgbClr val="864E3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5A8500-864A-49B5-85E0-85CBF1E3DF28}"/>
              </a:ext>
            </a:extLst>
          </p:cNvPr>
          <p:cNvSpPr txBox="1"/>
          <p:nvPr/>
        </p:nvSpPr>
        <p:spPr>
          <a:xfrm>
            <a:off x="1016000" y="1422400"/>
            <a:ext cx="1016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i="1">
                <a:solidFill>
                  <a:srgbClr val="6F4E37"/>
                </a:solidFill>
              </a:rPr>
              <a:t>Average spend barely changes across channels or payment methods — revenue is a traffic story.</a:t>
            </a:r>
            <a:endParaRPr lang="en-CA" i="1">
              <a:solidFill>
                <a:srgbClr val="6F4E37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364F36-9054-4AD9-B67D-A5B427F1B990}"/>
              </a:ext>
            </a:extLst>
          </p:cNvPr>
          <p:cNvSpPr txBox="1"/>
          <p:nvPr/>
        </p:nvSpPr>
        <p:spPr>
          <a:xfrm>
            <a:off x="939800" y="2006600"/>
            <a:ext cx="3810000" cy="287251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64E37"/>
                </a:solidFill>
              </a:rPr>
              <a:t>Channel mix</a:t>
            </a:r>
          </a:p>
          <a:p>
            <a:pPr marL="228600" indent="-228600">
              <a:lnSpc>
                <a:spcPts val="1750"/>
              </a:lnSpc>
              <a:spcBef>
                <a:spcPts val="300"/>
              </a:spcBef>
              <a:buFont typeface="Arial"/>
              <a:buChar char="•"/>
            </a:pPr>
            <a:r>
              <a:rPr lang="en-US" sz="1400" dirty="0">
                <a:solidFill>
                  <a:srgbClr val="2A1B12"/>
                </a:solidFill>
              </a:rPr>
              <a:t>In-store 59% — $48,294</a:t>
            </a:r>
          </a:p>
          <a:p>
            <a:pPr marL="228600" indent="-228600">
              <a:lnSpc>
                <a:spcPts val="1750"/>
              </a:lnSpc>
              <a:spcBef>
                <a:spcPts val="300"/>
              </a:spcBef>
              <a:buFont typeface="Arial"/>
              <a:buChar char="•"/>
            </a:pPr>
            <a:r>
              <a:rPr lang="en-US" sz="1400" dirty="0">
                <a:solidFill>
                  <a:srgbClr val="2A1B12"/>
                </a:solidFill>
              </a:rPr>
              <a:t>Takeaway 32% — $26,364</a:t>
            </a:r>
          </a:p>
          <a:p>
            <a:pPr marL="228600" indent="-228600">
              <a:lnSpc>
                <a:spcPts val="1750"/>
              </a:lnSpc>
              <a:spcBef>
                <a:spcPts val="300"/>
              </a:spcBef>
              <a:buFont typeface="Arial"/>
              <a:buChar char="•"/>
            </a:pPr>
            <a:r>
              <a:rPr lang="en-US" sz="1400" dirty="0">
                <a:solidFill>
                  <a:srgbClr val="2A1B12"/>
                </a:solidFill>
              </a:rPr>
              <a:t>Steady 1.8 : 1 ratio in every province</a:t>
            </a:r>
          </a:p>
          <a:p>
            <a:pPr>
              <a:spcBef>
                <a:spcPts val="11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64E37"/>
                </a:solidFill>
              </a:rPr>
              <a:t>Payments</a:t>
            </a:r>
          </a:p>
          <a:p>
            <a:pPr marL="228600" indent="-228600">
              <a:lnSpc>
                <a:spcPts val="1750"/>
              </a:lnSpc>
              <a:spcBef>
                <a:spcPts val="300"/>
              </a:spcBef>
              <a:buFont typeface="Arial"/>
              <a:buChar char="•"/>
            </a:pPr>
            <a:r>
              <a:rPr lang="en-US" sz="1400" dirty="0">
                <a:solidFill>
                  <a:srgbClr val="2A1B12"/>
                </a:solidFill>
              </a:rPr>
              <a:t>~70% cashless: Credit 39.5% + Wallet 29.9%</a:t>
            </a:r>
          </a:p>
          <a:p>
            <a:pPr marL="228600" indent="-228600">
              <a:lnSpc>
                <a:spcPts val="1750"/>
              </a:lnSpc>
              <a:spcBef>
                <a:spcPts val="300"/>
              </a:spcBef>
              <a:buFont typeface="Arial"/>
              <a:buChar char="•"/>
            </a:pPr>
            <a:r>
              <a:rPr lang="en-US" sz="1400" dirty="0">
                <a:solidFill>
                  <a:srgbClr val="2A1B12"/>
                </a:solidFill>
              </a:rPr>
              <a:t>Cash 25.1% — $20,571</a:t>
            </a:r>
          </a:p>
          <a:p>
            <a:pPr>
              <a:spcBef>
                <a:spcPts val="11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64E37"/>
                </a:solidFill>
              </a:rPr>
              <a:t>Uniform spend</a:t>
            </a:r>
          </a:p>
          <a:p>
            <a:pPr marL="228600" indent="-228600">
              <a:lnSpc>
                <a:spcPts val="1750"/>
              </a:lnSpc>
              <a:spcBef>
                <a:spcPts val="300"/>
              </a:spcBef>
              <a:buFont typeface="Arial"/>
              <a:buChar char="•"/>
            </a:pPr>
            <a:r>
              <a:rPr lang="en-US" sz="1400" dirty="0">
                <a:solidFill>
                  <a:srgbClr val="2A1B12"/>
                </a:solidFill>
              </a:rPr>
              <a:t>$8.49–$8.78 average across all methods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B457CA-4F84-4146-B3C6-0BB68700A1FF}"/>
              </a:ext>
            </a:extLst>
          </p:cNvPr>
          <p:cNvSpPr txBox="1"/>
          <p:nvPr/>
        </p:nvSpPr>
        <p:spPr>
          <a:xfrm>
            <a:off x="4978400" y="19304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CA" sz="1500" b="1">
                <a:solidFill>
                  <a:srgbClr val="864E37"/>
                </a:solidFill>
              </a:rPr>
              <a:t>Payment method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2AC635-8F65-45C6-A2CD-36A977F4E506}"/>
              </a:ext>
            </a:extLst>
          </p:cNvPr>
          <p:cNvSpPr txBox="1"/>
          <p:nvPr/>
        </p:nvSpPr>
        <p:spPr>
          <a:xfrm>
            <a:off x="4978400" y="40894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CA" sz="1500" b="1">
                <a:solidFill>
                  <a:srgbClr val="864E37"/>
                </a:solidFill>
              </a:rPr>
              <a:t>In-store vs takeaway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B6FF29-C05A-22DD-5AEC-53BA7C9DE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400" y="2235200"/>
            <a:ext cx="6299200" cy="18061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C3960F-8071-CA26-F3C8-15D1A0040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400" y="4394200"/>
            <a:ext cx="6299200" cy="1806163"/>
          </a:xfrm>
          <a:prstGeom prst="rect">
            <a:avLst/>
          </a:prstGeom>
        </p:spPr>
      </p:pic>
      <p:pic>
        <p:nvPicPr>
          <p:cNvPr id="10" name="Copied Picture 10">
            <a:extLst>
              <a:ext uri="{FF2B5EF4-FFF2-40B4-BE49-F238E27FC236}">
                <a16:creationId xmlns:a16="http://schemas.microsoft.com/office/drawing/2014/main" id="{163C1694-6870-B82C-4E5D-FA9B2E79DB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355600"/>
            <a:ext cx="4826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939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450C1-43E0-B6D2-0780-D4B4CB8EC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584200"/>
            <a:ext cx="10160000" cy="635000"/>
          </a:xfrm>
        </p:spPr>
        <p:txBody>
          <a:bodyPr>
            <a:normAutofit/>
          </a:bodyPr>
          <a:lstStyle/>
          <a:p>
            <a:r>
              <a:rPr lang="en-CA" sz="3000" b="1"/>
              <a:t>Forecasting Methodology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D988E3-4856-4507-91B1-6783D40F16D3}"/>
              </a:ext>
            </a:extLst>
          </p:cNvPr>
          <p:cNvSpPr/>
          <p:nvPr/>
        </p:nvSpPr>
        <p:spPr>
          <a:xfrm>
            <a:off x="1016000" y="1320800"/>
            <a:ext cx="10160000" cy="27940"/>
          </a:xfrm>
          <a:prstGeom prst="rect">
            <a:avLst/>
          </a:prstGeom>
          <a:solidFill>
            <a:srgbClr val="864E3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7139DF-5947-49C2-BC2D-A670494483AB}"/>
              </a:ext>
            </a:extLst>
          </p:cNvPr>
          <p:cNvSpPr txBox="1"/>
          <p:nvPr/>
        </p:nvSpPr>
        <p:spPr>
          <a:xfrm>
            <a:off x="1016000" y="1422400"/>
            <a:ext cx="1016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i="1">
                <a:solidFill>
                  <a:srgbClr val="6F4E37"/>
                </a:solidFill>
              </a:rPr>
              <a:t>Two models, rigorously validated with walk-forward cross-validation — and a clear, defensible winner.</a:t>
            </a:r>
            <a:endParaRPr lang="en-CA" i="1">
              <a:solidFill>
                <a:srgbClr val="6F4E37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5698C6-9430-43E5-877D-84515D5C53A4}"/>
              </a:ext>
            </a:extLst>
          </p:cNvPr>
          <p:cNvSpPr txBox="1"/>
          <p:nvPr/>
        </p:nvSpPr>
        <p:spPr>
          <a:xfrm>
            <a:off x="939800" y="2006600"/>
            <a:ext cx="4673600" cy="170040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864E37"/>
                </a:solidFill>
              </a:rPr>
              <a:t>What we did</a:t>
            </a:r>
          </a:p>
          <a:p>
            <a:pPr marL="271463" indent="-271463">
              <a:lnSpc>
                <a:spcPts val="1750"/>
              </a:lnSpc>
              <a:spcBef>
                <a:spcPts val="650"/>
              </a:spcBef>
              <a:buFont typeface="Arial"/>
              <a:buChar char="•"/>
            </a:pPr>
            <a:r>
              <a:rPr lang="en-US" sz="1400" dirty="0">
                <a:solidFill>
                  <a:srgbClr val="2A1B12"/>
                </a:solidFill>
              </a:rPr>
              <a:t>Aggregated to daily total revenue (365 points)</a:t>
            </a:r>
          </a:p>
          <a:p>
            <a:pPr marL="271463" indent="-271463">
              <a:lnSpc>
                <a:spcPts val="1750"/>
              </a:lnSpc>
              <a:spcBef>
                <a:spcPts val="650"/>
              </a:spcBef>
              <a:buFont typeface="Arial"/>
              <a:buChar char="•"/>
            </a:pPr>
            <a:r>
              <a:rPr lang="en-US" sz="1400" dirty="0">
                <a:solidFill>
                  <a:srgbClr val="2A1B12"/>
                </a:solidFill>
              </a:rPr>
              <a:t>Tested two models: Prophet and SARIMA</a:t>
            </a:r>
          </a:p>
          <a:p>
            <a:pPr marL="271463" indent="-271463">
              <a:lnSpc>
                <a:spcPts val="1750"/>
              </a:lnSpc>
              <a:spcBef>
                <a:spcPts val="650"/>
              </a:spcBef>
              <a:buFont typeface="Arial"/>
              <a:buChar char="•"/>
            </a:pPr>
            <a:r>
              <a:rPr lang="en-US" sz="1400" dirty="0">
                <a:solidFill>
                  <a:srgbClr val="2A1B12"/>
                </a:solidFill>
              </a:rPr>
              <a:t>Walk-forward CV: 5 folds, 30-day test windows</a:t>
            </a:r>
          </a:p>
          <a:p>
            <a:pPr marL="271463" indent="-271463">
              <a:lnSpc>
                <a:spcPts val="1750"/>
              </a:lnSpc>
              <a:spcBef>
                <a:spcPts val="650"/>
              </a:spcBef>
              <a:buFont typeface="Arial"/>
              <a:buChar char="•"/>
            </a:pPr>
            <a:r>
              <a:rPr lang="en-US" sz="1400" dirty="0">
                <a:solidFill>
                  <a:srgbClr val="2A1B12"/>
                </a:solidFill>
              </a:rPr>
              <a:t>Every run tracked in MLflow for reproducibility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F870D4C-4AF4-4B55-BCD3-7A2FD0E3A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455761"/>
              </p:ext>
            </p:extLst>
          </p:nvPr>
        </p:nvGraphicFramePr>
        <p:xfrm>
          <a:off x="939800" y="4267200"/>
          <a:ext cx="4673601" cy="132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7867">
                  <a:extLst>
                    <a:ext uri="{9D8B030D-6E8A-4147-A177-3AD203B41FA5}">
                      <a16:colId xmlns:a16="http://schemas.microsoft.com/office/drawing/2014/main" val="706131595"/>
                    </a:ext>
                  </a:extLst>
                </a:gridCol>
                <a:gridCol w="1557867">
                  <a:extLst>
                    <a:ext uri="{9D8B030D-6E8A-4147-A177-3AD203B41FA5}">
                      <a16:colId xmlns:a16="http://schemas.microsoft.com/office/drawing/2014/main" val="2885153875"/>
                    </a:ext>
                  </a:extLst>
                </a:gridCol>
                <a:gridCol w="1557867">
                  <a:extLst>
                    <a:ext uri="{9D8B030D-6E8A-4147-A177-3AD203B41FA5}">
                      <a16:colId xmlns:a16="http://schemas.microsoft.com/office/drawing/2014/main" val="3393775304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CA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864E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SARIMA</a:t>
                      </a:r>
                    </a:p>
                  </a:txBody>
                  <a:tcPr anchor="ctr">
                    <a:solidFill>
                      <a:srgbClr val="864E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Prophet</a:t>
                      </a:r>
                    </a:p>
                  </a:txBody>
                  <a:tcPr anchor="ctr">
                    <a:solidFill>
                      <a:srgbClr val="864E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72201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CA" sz="14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MAPE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400" b="1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25.84%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4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25.89%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525188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CA" sz="14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MAE</a:t>
                      </a:r>
                    </a:p>
                  </a:txBody>
                  <a:tcPr anchor="ctr"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400" b="1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$44.35</a:t>
                      </a:r>
                    </a:p>
                  </a:txBody>
                  <a:tcPr anchor="ctr"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4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$44.06</a:t>
                      </a:r>
                    </a:p>
                  </a:txBody>
                  <a:tcPr anchor="ctr">
                    <a:solidFill>
                      <a:srgbClr val="F4E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756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CA" sz="14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RMSE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400" b="1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$55.76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4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$55.44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405663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0546777-D20E-49E7-8B94-349317231FDE}"/>
              </a:ext>
            </a:extLst>
          </p:cNvPr>
          <p:cNvSpPr txBox="1"/>
          <p:nvPr/>
        </p:nvSpPr>
        <p:spPr>
          <a:xfrm>
            <a:off x="5969000" y="1930400"/>
            <a:ext cx="533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864E37"/>
                </a:solidFill>
              </a:rPr>
              <a:t>Walk-forward CV — actual vs. predicted (5 folds)</a:t>
            </a:r>
            <a:endParaRPr lang="en-CA" sz="1500" b="1">
              <a:solidFill>
                <a:srgbClr val="864E37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5C8D125-202B-4DFC-86B0-ED29D93BB9DE}"/>
              </a:ext>
            </a:extLst>
          </p:cNvPr>
          <p:cNvSpPr/>
          <p:nvPr/>
        </p:nvSpPr>
        <p:spPr>
          <a:xfrm>
            <a:off x="5969000" y="4368800"/>
            <a:ext cx="5334000" cy="1524000"/>
          </a:xfrm>
          <a:prstGeom prst="roundRect">
            <a:avLst/>
          </a:prstGeom>
          <a:solidFill>
            <a:srgbClr val="3A231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2708F8-2A09-4929-9F73-1EC05AC152FE}"/>
              </a:ext>
            </a:extLst>
          </p:cNvPr>
          <p:cNvSpPr txBox="1"/>
          <p:nvPr/>
        </p:nvSpPr>
        <p:spPr>
          <a:xfrm>
            <a:off x="6172200" y="4495800"/>
            <a:ext cx="4978400" cy="80573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1D9BF"/>
                </a:solidFill>
              </a:rPr>
              <a:t>Winner: SARIMA(0,1,1)(0,1,1)[7]</a:t>
            </a:r>
          </a:p>
          <a:p>
            <a:pPr>
              <a:lnSpc>
                <a:spcPts val="1600"/>
              </a:lnSpc>
              <a:buNone/>
            </a:pPr>
            <a:r>
              <a:rPr lang="en-US" sz="1300" dirty="0">
                <a:solidFill>
                  <a:srgbClr val="EADBC8"/>
                </a:solidFill>
              </a:rPr>
              <a:t>The “airline model” — chosen for the dominant 7-day weekly cycle. Tuning cut MAPE from 30.5% to 25.8%.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735C460-55F1-D446-4933-2ED9DA255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0" y="2235200"/>
            <a:ext cx="5334000" cy="1905000"/>
          </a:xfrm>
          <a:prstGeom prst="rect">
            <a:avLst/>
          </a:prstGeom>
        </p:spPr>
      </p:pic>
      <p:pic>
        <p:nvPicPr>
          <p:cNvPr id="12" name="Copied Picture 12">
            <a:extLst>
              <a:ext uri="{FF2B5EF4-FFF2-40B4-BE49-F238E27FC236}">
                <a16:creationId xmlns:a16="http://schemas.microsoft.com/office/drawing/2014/main" id="{163C1694-6870-B82C-4E5D-FA9B2E79D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"/>
            <a:ext cx="4826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527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7A485-9B49-AB08-5BD4-7FAAA9D17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584200"/>
            <a:ext cx="10160000" cy="635000"/>
          </a:xfrm>
        </p:spPr>
        <p:txBody>
          <a:bodyPr>
            <a:normAutofit/>
          </a:bodyPr>
          <a:lstStyle/>
          <a:p>
            <a:r>
              <a:rPr lang="en-CA" sz="3000" b="1"/>
              <a:t>6-Month Revenue Forecast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667C96-937F-4D51-8D31-343398A87CA8}"/>
              </a:ext>
            </a:extLst>
          </p:cNvPr>
          <p:cNvSpPr/>
          <p:nvPr/>
        </p:nvSpPr>
        <p:spPr>
          <a:xfrm>
            <a:off x="1016000" y="1320800"/>
            <a:ext cx="10160000" cy="27940"/>
          </a:xfrm>
          <a:prstGeom prst="rect">
            <a:avLst/>
          </a:prstGeom>
          <a:solidFill>
            <a:srgbClr val="864E3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213621-8CE9-494C-BED6-118DBBF943E9}"/>
              </a:ext>
            </a:extLst>
          </p:cNvPr>
          <p:cNvSpPr txBox="1"/>
          <p:nvPr/>
        </p:nvSpPr>
        <p:spPr>
          <a:xfrm>
            <a:off x="1016000" y="1422400"/>
            <a:ext cx="1016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i="1">
                <a:solidFill>
                  <a:srgbClr val="6F4E37"/>
                </a:solidFill>
              </a:rPr>
              <a:t>Projected ~$6,600 per month through June 2024 — essentially flat, because the history is flat.</a:t>
            </a:r>
            <a:endParaRPr lang="en-CA" i="1">
              <a:solidFill>
                <a:srgbClr val="6F4E37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6E54236-8E70-4992-B880-798B13908901}"/>
              </a:ext>
            </a:extLst>
          </p:cNvPr>
          <p:cNvGraphicFramePr>
            <a:graphicFrameLocks noGrp="1"/>
          </p:cNvGraphicFramePr>
          <p:nvPr/>
        </p:nvGraphicFramePr>
        <p:xfrm>
          <a:off x="939800" y="1930400"/>
          <a:ext cx="4978401" cy="2887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9467">
                  <a:extLst>
                    <a:ext uri="{9D8B030D-6E8A-4147-A177-3AD203B41FA5}">
                      <a16:colId xmlns:a16="http://schemas.microsoft.com/office/drawing/2014/main" val="3655932377"/>
                    </a:ext>
                  </a:extLst>
                </a:gridCol>
                <a:gridCol w="1659467">
                  <a:extLst>
                    <a:ext uri="{9D8B030D-6E8A-4147-A177-3AD203B41FA5}">
                      <a16:colId xmlns:a16="http://schemas.microsoft.com/office/drawing/2014/main" val="521662416"/>
                    </a:ext>
                  </a:extLst>
                </a:gridCol>
                <a:gridCol w="1659467">
                  <a:extLst>
                    <a:ext uri="{9D8B030D-6E8A-4147-A177-3AD203B41FA5}">
                      <a16:colId xmlns:a16="http://schemas.microsoft.com/office/drawing/2014/main" val="665928798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CA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Month</a:t>
                      </a:r>
                    </a:p>
                  </a:txBody>
                  <a:tcPr anchor="ctr">
                    <a:solidFill>
                      <a:srgbClr val="864E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Forecast</a:t>
                      </a:r>
                    </a:p>
                  </a:txBody>
                  <a:tcPr anchor="ctr">
                    <a:solidFill>
                      <a:srgbClr val="864E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95% Confidence Range</a:t>
                      </a:r>
                    </a:p>
                  </a:txBody>
                  <a:tcPr anchor="ctr">
                    <a:solidFill>
                      <a:srgbClr val="864E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7514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en-CA" sz="13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January 2024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3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$6,991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3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$3,729 – $10,254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2898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en-CA" sz="13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February</a:t>
                      </a:r>
                    </a:p>
                  </a:txBody>
                  <a:tcPr anchor="ctr"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3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$6,421</a:t>
                      </a:r>
                    </a:p>
                  </a:txBody>
                  <a:tcPr anchor="ctr"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3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$3,357 – $9,485</a:t>
                      </a:r>
                    </a:p>
                  </a:txBody>
                  <a:tcPr anchor="ctr">
                    <a:solidFill>
                      <a:srgbClr val="F4E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53327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en-CA" sz="13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March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3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$6,589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3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$3,299 – $9,879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08058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en-CA" sz="13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April</a:t>
                      </a:r>
                    </a:p>
                  </a:txBody>
                  <a:tcPr anchor="ctr"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3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$6,679</a:t>
                      </a:r>
                    </a:p>
                  </a:txBody>
                  <a:tcPr anchor="ctr"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3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$3,479 – $9,879</a:t>
                      </a:r>
                    </a:p>
                  </a:txBody>
                  <a:tcPr anchor="ctr">
                    <a:solidFill>
                      <a:srgbClr val="F4E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4822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en-CA" sz="13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May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3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$6,920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3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$3,596 – $10,245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81328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en-CA" sz="13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June</a:t>
                      </a:r>
                    </a:p>
                  </a:txBody>
                  <a:tcPr anchor="ctr"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3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$6,099</a:t>
                      </a:r>
                    </a:p>
                  </a:txBody>
                  <a:tcPr anchor="ctr"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300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$3,078 – $9,119</a:t>
                      </a:r>
                    </a:p>
                  </a:txBody>
                  <a:tcPr anchor="ctr">
                    <a:solidFill>
                      <a:srgbClr val="F4E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34839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en-CA" sz="1300" b="1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6-Month Total</a:t>
                      </a:r>
                    </a:p>
                  </a:txBody>
                  <a:tcPr anchor="ctr">
                    <a:solidFill>
                      <a:srgbClr val="EDDBC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300" b="1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$39,698</a:t>
                      </a:r>
                    </a:p>
                  </a:txBody>
                  <a:tcPr anchor="ctr">
                    <a:solidFill>
                      <a:srgbClr val="EDDB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300" b="1">
                          <a:solidFill>
                            <a:srgbClr val="2A1B12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EDDB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25892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3F2A0A2-27DE-4422-B9AD-F463EE871B8C}"/>
              </a:ext>
            </a:extLst>
          </p:cNvPr>
          <p:cNvSpPr txBox="1"/>
          <p:nvPr/>
        </p:nvSpPr>
        <p:spPr>
          <a:xfrm>
            <a:off x="6172200" y="19304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864E37"/>
                </a:solidFill>
              </a:rPr>
              <a:t>6-month forecast with 95% confidence bands</a:t>
            </a:r>
            <a:endParaRPr lang="en-CA" sz="1500" b="1">
              <a:solidFill>
                <a:srgbClr val="864E37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4E48FFB-5CA2-41C7-AE4B-7FF2CCE080C6}"/>
              </a:ext>
            </a:extLst>
          </p:cNvPr>
          <p:cNvSpPr/>
          <p:nvPr/>
        </p:nvSpPr>
        <p:spPr>
          <a:xfrm>
            <a:off x="6172200" y="4191000"/>
            <a:ext cx="5080000" cy="1752600"/>
          </a:xfrm>
          <a:prstGeom prst="roundRect">
            <a:avLst/>
          </a:prstGeom>
          <a:solidFill>
            <a:srgbClr val="EDDB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6852DB-0962-4F63-8ECC-8ED8821C2FC6}"/>
              </a:ext>
            </a:extLst>
          </p:cNvPr>
          <p:cNvSpPr txBox="1"/>
          <p:nvPr/>
        </p:nvSpPr>
        <p:spPr>
          <a:xfrm>
            <a:off x="6375400" y="4318000"/>
            <a:ext cx="4673600" cy="12419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864E37"/>
                </a:solidFill>
              </a:rPr>
              <a:t>The bottom line</a:t>
            </a:r>
          </a:p>
          <a:p>
            <a:pPr marL="228600" indent="-228600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2A1B12"/>
                </a:solidFill>
              </a:rPr>
              <a:t>≈ $6,600/month → ~$79,400 annualized</a:t>
            </a:r>
          </a:p>
          <a:p>
            <a:pPr marL="228600" indent="-228600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2A1B12"/>
                </a:solidFill>
              </a:rPr>
              <a:t>vs. 2023's actual $81,933 — only a ~3% difference</a:t>
            </a:r>
          </a:p>
          <a:p>
            <a:pPr marL="228600" indent="-228600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2A1B12"/>
                </a:solidFill>
              </a:rPr>
              <a:t>Both models agree: steady state, no growth or decline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B74380-20DF-D5DD-9267-2FDD0B3B2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35200"/>
            <a:ext cx="5080000" cy="1814286"/>
          </a:xfrm>
          <a:prstGeom prst="rect">
            <a:avLst/>
          </a:prstGeom>
        </p:spPr>
      </p:pic>
      <p:pic>
        <p:nvPicPr>
          <p:cNvPr id="11" name="Copied Picture 11">
            <a:extLst>
              <a:ext uri="{FF2B5EF4-FFF2-40B4-BE49-F238E27FC236}">
                <a16:creationId xmlns:a16="http://schemas.microsoft.com/office/drawing/2014/main" id="{163C1694-6870-B82C-4E5D-FA9B2E79D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"/>
            <a:ext cx="4826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497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0581F-5802-F93F-A00C-1E0CFD46D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584200"/>
            <a:ext cx="10160000" cy="635000"/>
          </a:xfrm>
        </p:spPr>
        <p:txBody>
          <a:bodyPr>
            <a:normAutofit/>
          </a:bodyPr>
          <a:lstStyle/>
          <a:p>
            <a:r>
              <a:rPr lang="en-CA" sz="3000" b="1"/>
              <a:t>Interactive Dashboard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649526-D24E-40CD-9710-F918EED4C7BA}"/>
              </a:ext>
            </a:extLst>
          </p:cNvPr>
          <p:cNvSpPr/>
          <p:nvPr/>
        </p:nvSpPr>
        <p:spPr>
          <a:xfrm>
            <a:off x="1016000" y="1320800"/>
            <a:ext cx="10160000" cy="27940"/>
          </a:xfrm>
          <a:prstGeom prst="rect">
            <a:avLst/>
          </a:prstGeom>
          <a:solidFill>
            <a:srgbClr val="864E3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21B7692-5B2D-420C-B062-176F308B7845}"/>
              </a:ext>
            </a:extLst>
          </p:cNvPr>
          <p:cNvSpPr/>
          <p:nvPr/>
        </p:nvSpPr>
        <p:spPr>
          <a:xfrm>
            <a:off x="3810000" y="1905000"/>
            <a:ext cx="4572000" cy="1498600"/>
          </a:xfrm>
          <a:prstGeom prst="roundRect">
            <a:avLst/>
          </a:prstGeom>
          <a:solidFill>
            <a:srgbClr val="3A231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261A7C-2347-4EBD-9D04-4D54BD9884B1}"/>
              </a:ext>
            </a:extLst>
          </p:cNvPr>
          <p:cNvSpPr txBox="1"/>
          <p:nvPr/>
        </p:nvSpPr>
        <p:spPr>
          <a:xfrm>
            <a:off x="3810000" y="2159000"/>
            <a:ext cx="4572000" cy="584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CA" sz="3400" b="1">
                <a:solidFill>
                  <a:srgbClr val="F1D9BF"/>
                </a:solidFill>
                <a:latin typeface="Georgia"/>
              </a:rPr>
              <a:t>Live Demo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AC13DC-BCDC-4143-A689-29A0FD150D7B}"/>
              </a:ext>
            </a:extLst>
          </p:cNvPr>
          <p:cNvSpPr txBox="1"/>
          <p:nvPr/>
        </p:nvSpPr>
        <p:spPr>
          <a:xfrm>
            <a:off x="3810000" y="28194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BC9F91"/>
                </a:solidFill>
              </a:rPr>
              <a:t>Power BI dashboard · 5 analytical pages</a:t>
            </a:r>
            <a:endParaRPr lang="en-CA" sz="1400">
              <a:solidFill>
                <a:srgbClr val="BC9F9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82B1A20-BD99-4F1A-B6EB-3D04E8753BBF}"/>
              </a:ext>
            </a:extLst>
          </p:cNvPr>
          <p:cNvSpPr/>
          <p:nvPr/>
        </p:nvSpPr>
        <p:spPr>
          <a:xfrm>
            <a:off x="939800" y="4114800"/>
            <a:ext cx="1905000" cy="1905000"/>
          </a:xfrm>
          <a:prstGeom prst="roundRect">
            <a:avLst/>
          </a:prstGeom>
          <a:solidFill>
            <a:srgbClr val="EDDB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6A7B42-97A0-40EF-A41C-B58ED5148C91}"/>
              </a:ext>
            </a:extLst>
          </p:cNvPr>
          <p:cNvSpPr txBox="1"/>
          <p:nvPr/>
        </p:nvSpPr>
        <p:spPr>
          <a:xfrm>
            <a:off x="939800" y="4318000"/>
            <a:ext cx="1905000" cy="6858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CA" sz="1350" b="1">
                <a:solidFill>
                  <a:srgbClr val="864E37"/>
                </a:solidFill>
              </a:rPr>
              <a:t>Sales Overview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B7E827-1813-4E43-BA7F-CEA4E589B4E9}"/>
              </a:ext>
            </a:extLst>
          </p:cNvPr>
          <p:cNvSpPr txBox="1"/>
          <p:nvPr/>
        </p:nvSpPr>
        <p:spPr>
          <a:xfrm>
            <a:off x="1066800" y="5029200"/>
            <a:ext cx="1651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CA" sz="1200">
                <a:solidFill>
                  <a:srgbClr val="2A1B12"/>
                </a:solidFill>
              </a:rPr>
              <a:t>KPI cards &amp; monthly trends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1FF0151-8BB0-497E-9CC8-06910365D26D}"/>
              </a:ext>
            </a:extLst>
          </p:cNvPr>
          <p:cNvSpPr/>
          <p:nvPr/>
        </p:nvSpPr>
        <p:spPr>
          <a:xfrm>
            <a:off x="3041650" y="4114800"/>
            <a:ext cx="1905000" cy="1905000"/>
          </a:xfrm>
          <a:prstGeom prst="roundRect">
            <a:avLst/>
          </a:prstGeom>
          <a:solidFill>
            <a:srgbClr val="EDDB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062B85-2F94-40BF-8779-C2497F79A3D4}"/>
              </a:ext>
            </a:extLst>
          </p:cNvPr>
          <p:cNvSpPr txBox="1"/>
          <p:nvPr/>
        </p:nvSpPr>
        <p:spPr>
          <a:xfrm>
            <a:off x="3041650" y="4318000"/>
            <a:ext cx="1905000" cy="6858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CA" sz="1350" b="1">
                <a:solidFill>
                  <a:srgbClr val="864E37"/>
                </a:solidFill>
              </a:rPr>
              <a:t>Regional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F86711-15F2-4E17-BEB1-AE2C71B62A7E}"/>
              </a:ext>
            </a:extLst>
          </p:cNvPr>
          <p:cNvSpPr txBox="1"/>
          <p:nvPr/>
        </p:nvSpPr>
        <p:spPr>
          <a:xfrm>
            <a:off x="3168650" y="5029200"/>
            <a:ext cx="1651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CA" sz="1200">
                <a:solidFill>
                  <a:srgbClr val="2A1B12"/>
                </a:solidFill>
              </a:rPr>
              <a:t>Province breakdown &amp; geographic comparison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84F5C1C-6918-47E8-A9B8-D7AD6403DBE5}"/>
              </a:ext>
            </a:extLst>
          </p:cNvPr>
          <p:cNvSpPr/>
          <p:nvPr/>
        </p:nvSpPr>
        <p:spPr>
          <a:xfrm>
            <a:off x="5143500" y="4114800"/>
            <a:ext cx="1905000" cy="1905000"/>
          </a:xfrm>
          <a:prstGeom prst="roundRect">
            <a:avLst/>
          </a:prstGeom>
          <a:solidFill>
            <a:srgbClr val="EDDB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38FC22-71E3-463B-85B8-53A7E167BD4E}"/>
              </a:ext>
            </a:extLst>
          </p:cNvPr>
          <p:cNvSpPr txBox="1"/>
          <p:nvPr/>
        </p:nvSpPr>
        <p:spPr>
          <a:xfrm>
            <a:off x="5143500" y="4318000"/>
            <a:ext cx="1905000" cy="6858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CA" sz="1350" b="1">
                <a:solidFill>
                  <a:srgbClr val="864E37"/>
                </a:solidFill>
              </a:rPr>
              <a:t>Product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502302-B462-4FE4-B991-715BD8B81F78}"/>
              </a:ext>
            </a:extLst>
          </p:cNvPr>
          <p:cNvSpPr txBox="1"/>
          <p:nvPr/>
        </p:nvSpPr>
        <p:spPr>
          <a:xfrm>
            <a:off x="5270500" y="5029200"/>
            <a:ext cx="1651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CA" sz="1200">
                <a:solidFill>
                  <a:srgbClr val="2A1B12"/>
                </a:solidFill>
              </a:rPr>
              <a:t>Mix &amp; category performance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B8A424A-110E-420D-8803-93005AB48A76}"/>
              </a:ext>
            </a:extLst>
          </p:cNvPr>
          <p:cNvSpPr/>
          <p:nvPr/>
        </p:nvSpPr>
        <p:spPr>
          <a:xfrm>
            <a:off x="7245350" y="4114800"/>
            <a:ext cx="1905000" cy="1905000"/>
          </a:xfrm>
          <a:prstGeom prst="roundRect">
            <a:avLst/>
          </a:prstGeom>
          <a:solidFill>
            <a:srgbClr val="EDDB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4F203C-078C-488F-8635-DC68683791A5}"/>
              </a:ext>
            </a:extLst>
          </p:cNvPr>
          <p:cNvSpPr txBox="1"/>
          <p:nvPr/>
        </p:nvSpPr>
        <p:spPr>
          <a:xfrm>
            <a:off x="7245350" y="4318000"/>
            <a:ext cx="1905000" cy="6858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CA" sz="1350" b="1">
                <a:solidFill>
                  <a:srgbClr val="864E37"/>
                </a:solidFill>
              </a:rPr>
              <a:t>Forecast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8FAB0B-5097-4C2C-AB52-72BFE7C968CC}"/>
              </a:ext>
            </a:extLst>
          </p:cNvPr>
          <p:cNvSpPr txBox="1"/>
          <p:nvPr/>
        </p:nvSpPr>
        <p:spPr>
          <a:xfrm>
            <a:off x="7372350" y="5029200"/>
            <a:ext cx="1651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2A1B12"/>
                </a:solidFill>
              </a:rPr>
              <a:t>6-month projection with confidence bands</a:t>
            </a:r>
            <a:endParaRPr lang="en-CA" sz="1200">
              <a:solidFill>
                <a:srgbClr val="2A1B12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99996A7-65EF-4D36-8E92-ED7A81E9D14E}"/>
              </a:ext>
            </a:extLst>
          </p:cNvPr>
          <p:cNvSpPr/>
          <p:nvPr/>
        </p:nvSpPr>
        <p:spPr>
          <a:xfrm>
            <a:off x="9347200" y="4114800"/>
            <a:ext cx="1905000" cy="1905000"/>
          </a:xfrm>
          <a:prstGeom prst="roundRect">
            <a:avLst/>
          </a:prstGeom>
          <a:solidFill>
            <a:srgbClr val="EDDB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59F032-44E2-4DF1-AE49-B1F16DA6864F}"/>
              </a:ext>
            </a:extLst>
          </p:cNvPr>
          <p:cNvSpPr txBox="1"/>
          <p:nvPr/>
        </p:nvSpPr>
        <p:spPr>
          <a:xfrm>
            <a:off x="9347200" y="4318000"/>
            <a:ext cx="1905000" cy="6858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CA" sz="1350" b="1">
                <a:solidFill>
                  <a:srgbClr val="864E37"/>
                </a:solidFill>
              </a:rPr>
              <a:t>Recommendations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279E2E9-8D73-49FB-BECD-4C5B255398F6}"/>
              </a:ext>
            </a:extLst>
          </p:cNvPr>
          <p:cNvSpPr txBox="1"/>
          <p:nvPr/>
        </p:nvSpPr>
        <p:spPr>
          <a:xfrm>
            <a:off x="9474200" y="5029200"/>
            <a:ext cx="1651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CA" sz="1200">
                <a:solidFill>
                  <a:srgbClr val="2A1B12"/>
                </a:solidFill>
              </a:rPr>
              <a:t>Data-backed action items</a:t>
            </a:r>
          </a:p>
        </p:txBody>
      </p:sp>
      <p:pic>
        <p:nvPicPr>
          <p:cNvPr id="22" name="Copied Picture 22">
            <a:extLst>
              <a:ext uri="{FF2B5EF4-FFF2-40B4-BE49-F238E27FC236}">
                <a16:creationId xmlns:a16="http://schemas.microsoft.com/office/drawing/2014/main" id="{163C1694-6870-B82C-4E5D-FA9B2E79D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355600"/>
            <a:ext cx="4826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938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A51DA-D89A-7919-B03D-DF325D4F8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584200"/>
            <a:ext cx="10160000" cy="635000"/>
          </a:xfrm>
        </p:spPr>
        <p:txBody>
          <a:bodyPr>
            <a:normAutofit/>
          </a:bodyPr>
          <a:lstStyle/>
          <a:p>
            <a:r>
              <a:rPr lang="en-CA" sz="3000" b="1"/>
              <a:t>Recommendations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C793F1-ECB2-4273-8061-5DAF571BDEAF}"/>
              </a:ext>
            </a:extLst>
          </p:cNvPr>
          <p:cNvSpPr/>
          <p:nvPr/>
        </p:nvSpPr>
        <p:spPr>
          <a:xfrm>
            <a:off x="1016000" y="1320800"/>
            <a:ext cx="10160000" cy="27940"/>
          </a:xfrm>
          <a:prstGeom prst="rect">
            <a:avLst/>
          </a:prstGeom>
          <a:solidFill>
            <a:srgbClr val="864E3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634C31-DDBC-4249-8417-D05DBC885ED8}"/>
              </a:ext>
            </a:extLst>
          </p:cNvPr>
          <p:cNvSpPr txBox="1"/>
          <p:nvPr/>
        </p:nvSpPr>
        <p:spPr>
          <a:xfrm>
            <a:off x="1016000" y="1422400"/>
            <a:ext cx="1016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i="1">
                <a:solidFill>
                  <a:srgbClr val="6F4E37"/>
                </a:solidFill>
              </a:rPr>
              <a:t>Five data-backed moves — each tied directly to what the numbers show.</a:t>
            </a:r>
            <a:endParaRPr lang="en-CA" i="1">
              <a:solidFill>
                <a:srgbClr val="6F4E37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260C20B-C139-462A-8EF6-DBBC828B11EF}"/>
              </a:ext>
            </a:extLst>
          </p:cNvPr>
          <p:cNvSpPr/>
          <p:nvPr/>
        </p:nvSpPr>
        <p:spPr>
          <a:xfrm>
            <a:off x="939800" y="1981200"/>
            <a:ext cx="533400" cy="533400"/>
          </a:xfrm>
          <a:prstGeom prst="ellipse">
            <a:avLst/>
          </a:prstGeom>
          <a:solidFill>
            <a:srgbClr val="864E3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CA" sz="20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D88DA7-A1B8-4336-905D-FBF43826F568}"/>
              </a:ext>
            </a:extLst>
          </p:cNvPr>
          <p:cNvSpPr txBox="1"/>
          <p:nvPr/>
        </p:nvSpPr>
        <p:spPr>
          <a:xfrm>
            <a:off x="1676400" y="1930400"/>
            <a:ext cx="9550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CA" b="1">
                <a:solidFill>
                  <a:srgbClr val="864E37"/>
                </a:solidFill>
              </a:rPr>
              <a:t>Protect Sandwich &amp; Coffee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12A92B-F209-4EA4-A95C-862DB81C2838}"/>
              </a:ext>
            </a:extLst>
          </p:cNvPr>
          <p:cNvSpPr txBox="1"/>
          <p:nvPr/>
        </p:nvSpPr>
        <p:spPr>
          <a:xfrm>
            <a:off x="1676400" y="2260600"/>
            <a:ext cx="95504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>
                <a:solidFill>
                  <a:srgbClr val="2A1B12"/>
                </a:solidFill>
              </a:rPr>
              <a:t>46% of revenue sits in two products — secure supply and give them prime placement.</a:t>
            </a:r>
            <a:endParaRPr lang="en-CA" sz="1450">
              <a:solidFill>
                <a:srgbClr val="2A1B12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715D231-E39A-43CF-8C65-28B2611764C6}"/>
              </a:ext>
            </a:extLst>
          </p:cNvPr>
          <p:cNvSpPr/>
          <p:nvPr/>
        </p:nvSpPr>
        <p:spPr>
          <a:xfrm>
            <a:off x="939800" y="2844800"/>
            <a:ext cx="533400" cy="533400"/>
          </a:xfrm>
          <a:prstGeom prst="ellipse">
            <a:avLst/>
          </a:prstGeom>
          <a:solidFill>
            <a:srgbClr val="864E3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CA" sz="20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46BA5E-F123-4FEB-9E27-D564A3CD4736}"/>
              </a:ext>
            </a:extLst>
          </p:cNvPr>
          <p:cNvSpPr txBox="1"/>
          <p:nvPr/>
        </p:nvSpPr>
        <p:spPr>
          <a:xfrm>
            <a:off x="1676400" y="2794000"/>
            <a:ext cx="9550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864E37"/>
                </a:solidFill>
              </a:rPr>
              <a:t>Staff for weekdays, experiment on weekends</a:t>
            </a:r>
            <a:endParaRPr lang="en-CA" b="1">
              <a:solidFill>
                <a:srgbClr val="864E37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01E9D3-79EE-45C0-8B92-CB33D61B8970}"/>
              </a:ext>
            </a:extLst>
          </p:cNvPr>
          <p:cNvSpPr txBox="1"/>
          <p:nvPr/>
        </p:nvSpPr>
        <p:spPr>
          <a:xfrm>
            <a:off x="1676400" y="3124200"/>
            <a:ext cx="95504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>
                <a:solidFill>
                  <a:srgbClr val="2A1B12"/>
                </a:solidFill>
              </a:rPr>
              <a:t>89% of transactions are Mon–Fri. Align labor &amp; stock, then test weekend offers.</a:t>
            </a:r>
            <a:endParaRPr lang="en-CA" sz="1450">
              <a:solidFill>
                <a:srgbClr val="2A1B12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79083FC-A6B0-448C-8412-1019B485410F}"/>
              </a:ext>
            </a:extLst>
          </p:cNvPr>
          <p:cNvSpPr/>
          <p:nvPr/>
        </p:nvSpPr>
        <p:spPr>
          <a:xfrm>
            <a:off x="939800" y="3708400"/>
            <a:ext cx="533400" cy="533400"/>
          </a:xfrm>
          <a:prstGeom prst="ellipse">
            <a:avLst/>
          </a:prstGeom>
          <a:solidFill>
            <a:srgbClr val="864E3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CA" sz="20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032C8B-556F-4543-86CF-AEE16E2E5FAE}"/>
              </a:ext>
            </a:extLst>
          </p:cNvPr>
          <p:cNvSpPr txBox="1"/>
          <p:nvPr/>
        </p:nvSpPr>
        <p:spPr>
          <a:xfrm>
            <a:off x="1676400" y="3657600"/>
            <a:ext cx="9550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864E37"/>
                </a:solidFill>
              </a:rPr>
              <a:t>Grow BC, investigate SK &amp; MB</a:t>
            </a:r>
            <a:endParaRPr lang="en-CA" b="1">
              <a:solidFill>
                <a:srgbClr val="864E37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11308C-282F-4058-9430-C67123EBADE8}"/>
              </a:ext>
            </a:extLst>
          </p:cNvPr>
          <p:cNvSpPr txBox="1"/>
          <p:nvPr/>
        </p:nvSpPr>
        <p:spPr>
          <a:xfrm>
            <a:off x="1676400" y="3987800"/>
            <a:ext cx="95504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>
                <a:solidFill>
                  <a:srgbClr val="2A1B12"/>
                </a:solidFill>
              </a:rPr>
              <a:t>BC's 34% share is foot traffic, not bigger baskets — probe the ~19% provinces for upside.</a:t>
            </a:r>
            <a:endParaRPr lang="en-CA" sz="1450">
              <a:solidFill>
                <a:srgbClr val="2A1B12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332E0ED-4ED1-4E80-8E3F-A000A33B93DE}"/>
              </a:ext>
            </a:extLst>
          </p:cNvPr>
          <p:cNvSpPr/>
          <p:nvPr/>
        </p:nvSpPr>
        <p:spPr>
          <a:xfrm>
            <a:off x="939800" y="4572000"/>
            <a:ext cx="533400" cy="533400"/>
          </a:xfrm>
          <a:prstGeom prst="ellipse">
            <a:avLst/>
          </a:prstGeom>
          <a:solidFill>
            <a:srgbClr val="864E3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CA" sz="20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20A4A5-EF1F-4BE7-B4F7-5541651ED23C}"/>
              </a:ext>
            </a:extLst>
          </p:cNvPr>
          <p:cNvSpPr txBox="1"/>
          <p:nvPr/>
        </p:nvSpPr>
        <p:spPr>
          <a:xfrm>
            <a:off x="1676400" y="4521200"/>
            <a:ext cx="9550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864E37"/>
                </a:solidFill>
              </a:rPr>
              <a:t>Push further on digital payments</a:t>
            </a:r>
            <a:endParaRPr lang="en-CA" b="1">
              <a:solidFill>
                <a:srgbClr val="864E37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86DB4A-3520-4FF9-B055-C85F339CC2C7}"/>
              </a:ext>
            </a:extLst>
          </p:cNvPr>
          <p:cNvSpPr txBox="1"/>
          <p:nvPr/>
        </p:nvSpPr>
        <p:spPr>
          <a:xfrm>
            <a:off x="1676400" y="4851400"/>
            <a:ext cx="95504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>
                <a:solidFill>
                  <a:srgbClr val="2A1B12"/>
                </a:solidFill>
              </a:rPr>
              <a:t>70% already cashless — negotiate lower processing rates on the 39.5% paid by card.</a:t>
            </a:r>
            <a:endParaRPr lang="en-CA" sz="1450">
              <a:solidFill>
                <a:srgbClr val="2A1B12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1603A6C-5D63-43C0-88B8-84C2E2856EB6}"/>
              </a:ext>
            </a:extLst>
          </p:cNvPr>
          <p:cNvSpPr/>
          <p:nvPr/>
        </p:nvSpPr>
        <p:spPr>
          <a:xfrm>
            <a:off x="939800" y="5435600"/>
            <a:ext cx="533400" cy="533400"/>
          </a:xfrm>
          <a:prstGeom prst="ellipse">
            <a:avLst/>
          </a:prstGeom>
          <a:solidFill>
            <a:srgbClr val="864E3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CA" sz="2000" b="1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45908A-23E9-4791-AECC-72FD37F6D965}"/>
              </a:ext>
            </a:extLst>
          </p:cNvPr>
          <p:cNvSpPr txBox="1"/>
          <p:nvPr/>
        </p:nvSpPr>
        <p:spPr>
          <a:xfrm>
            <a:off x="1676400" y="5384800"/>
            <a:ext cx="9550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864E37"/>
                </a:solidFill>
              </a:rPr>
              <a:t>Treat stability as an asset</a:t>
            </a:r>
            <a:endParaRPr lang="en-CA" b="1">
              <a:solidFill>
                <a:srgbClr val="864E37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71AD02-E157-436C-9B36-5DD3ABB025D4}"/>
              </a:ext>
            </a:extLst>
          </p:cNvPr>
          <p:cNvSpPr txBox="1"/>
          <p:nvPr/>
        </p:nvSpPr>
        <p:spPr>
          <a:xfrm>
            <a:off x="1676400" y="5715000"/>
            <a:ext cx="95504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>
                <a:solidFill>
                  <a:srgbClr val="2A1B12"/>
                </a:solidFill>
              </a:rPr>
              <a:t>Flat ~$6,600/mo is predictable; growth will require deliberate new demand.</a:t>
            </a:r>
            <a:endParaRPr lang="en-CA" sz="1450">
              <a:solidFill>
                <a:srgbClr val="2A1B12"/>
              </a:solidFill>
            </a:endParaRPr>
          </a:p>
        </p:txBody>
      </p:sp>
      <p:pic>
        <p:nvPicPr>
          <p:cNvPr id="20" name="Copied Picture 20">
            <a:extLst>
              <a:ext uri="{FF2B5EF4-FFF2-40B4-BE49-F238E27FC236}">
                <a16:creationId xmlns:a16="http://schemas.microsoft.com/office/drawing/2014/main" id="{163C1694-6870-B82C-4E5D-FA9B2E79D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355600"/>
            <a:ext cx="4826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240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231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F365DA79-6A05-4C00-A8F0-7F594C095FDB}"/>
              </a:ext>
            </a:extLst>
          </p:cNvPr>
          <p:cNvSpPr/>
          <p:nvPr/>
        </p:nvSpPr>
        <p:spPr>
          <a:xfrm>
            <a:off x="304800" y="228600"/>
            <a:ext cx="609600" cy="609600"/>
          </a:xfrm>
          <a:prstGeom prst="ellipse">
            <a:avLst/>
          </a:prstGeom>
          <a:solidFill>
            <a:srgbClr val="F4E7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D21C4D-2E67-1567-B485-A8114422F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558800"/>
            <a:ext cx="10160000" cy="609600"/>
          </a:xfrm>
        </p:spPr>
        <p:txBody>
          <a:bodyPr>
            <a:normAutofit/>
          </a:bodyPr>
          <a:lstStyle/>
          <a:p>
            <a:r>
              <a:rPr lang="en-CA" sz="3000" b="1">
                <a:solidFill>
                  <a:srgbClr val="F1D9BF"/>
                </a:solidFill>
              </a:rPr>
              <a:t>Conclusion &amp; What's Next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7694D7-146F-4007-9EF6-9087994454C3}"/>
              </a:ext>
            </a:extLst>
          </p:cNvPr>
          <p:cNvSpPr/>
          <p:nvPr/>
        </p:nvSpPr>
        <p:spPr>
          <a:xfrm>
            <a:off x="1016000" y="1270000"/>
            <a:ext cx="10160000" cy="27940"/>
          </a:xfrm>
          <a:prstGeom prst="rect">
            <a:avLst/>
          </a:prstGeom>
          <a:solidFill>
            <a:srgbClr val="864E3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17EC3F-DAC9-4453-B9EB-6281F6F16B58}"/>
              </a:ext>
            </a:extLst>
          </p:cNvPr>
          <p:cNvSpPr txBox="1"/>
          <p:nvPr/>
        </p:nvSpPr>
        <p:spPr>
          <a:xfrm>
            <a:off x="1016000" y="1524000"/>
            <a:ext cx="4953000" cy="275729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spcAft>
                <a:spcPts val="700"/>
              </a:spcAft>
              <a:buNone/>
            </a:pPr>
            <a:r>
              <a:rPr lang="en-US" sz="1800" b="1" dirty="0">
                <a:solidFill>
                  <a:srgbClr val="F1D9BF"/>
                </a:solidFill>
              </a:rPr>
              <a:t>What we delivered</a:t>
            </a:r>
          </a:p>
          <a:p>
            <a:pPr marL="266700" indent="-266700">
              <a:lnSpc>
                <a:spcPts val="1900"/>
              </a:lnSpc>
              <a:spcBef>
                <a:spcPts val="700"/>
              </a:spcBef>
              <a:buFont typeface="Arial"/>
              <a:buChar char="•"/>
            </a:pPr>
            <a:r>
              <a:rPr lang="en-US" sz="1500" dirty="0">
                <a:solidFill>
                  <a:srgbClr val="EADFCF"/>
                </a:solidFill>
              </a:rPr>
              <a:t>Cleaned 10,000 → 9,483 validated records (94.8%) with a full audit trail</a:t>
            </a:r>
          </a:p>
          <a:p>
            <a:pPr marL="266700" indent="-266700">
              <a:lnSpc>
                <a:spcPts val="1900"/>
              </a:lnSpc>
              <a:spcBef>
                <a:spcPts val="700"/>
              </a:spcBef>
              <a:buFont typeface="Arial"/>
              <a:buChar char="•"/>
            </a:pPr>
            <a:r>
              <a:rPr lang="en-US" sz="1500" dirty="0">
                <a:solidFill>
                  <a:srgbClr val="EADFCF"/>
                </a:solidFill>
              </a:rPr>
              <a:t>Profiled the business: weekday, in-store, sandwich-&amp;-coffee, BC-centered</a:t>
            </a:r>
          </a:p>
          <a:p>
            <a:pPr marL="266700" indent="-266700">
              <a:lnSpc>
                <a:spcPts val="1900"/>
              </a:lnSpc>
              <a:spcBef>
                <a:spcPts val="700"/>
              </a:spcBef>
              <a:buFont typeface="Arial"/>
              <a:buChar char="•"/>
            </a:pPr>
            <a:r>
              <a:rPr lang="en-US" sz="1500" dirty="0">
                <a:solidFill>
                  <a:srgbClr val="EADFCF"/>
                </a:solidFill>
              </a:rPr>
              <a:t>6-month SARIMA forecast: stable ~$6,600/mo, walk-forward validated</a:t>
            </a:r>
          </a:p>
          <a:p>
            <a:pPr marL="266700" indent="-266700">
              <a:lnSpc>
                <a:spcPts val="1900"/>
              </a:lnSpc>
              <a:spcBef>
                <a:spcPts val="700"/>
              </a:spcBef>
              <a:buFont typeface="Arial"/>
              <a:buChar char="•"/>
            </a:pPr>
            <a:r>
              <a:rPr lang="en-US" sz="1500" dirty="0">
                <a:solidFill>
                  <a:srgbClr val="EADFCF"/>
                </a:solidFill>
              </a:rPr>
              <a:t>Interactive Power BI dashboard (5 pages), every run logged in MLflow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FBCC49-9F56-475A-BAE9-4A263BF030E0}"/>
              </a:ext>
            </a:extLst>
          </p:cNvPr>
          <p:cNvSpPr txBox="1"/>
          <p:nvPr/>
        </p:nvSpPr>
        <p:spPr>
          <a:xfrm>
            <a:off x="6324600" y="1524000"/>
            <a:ext cx="4851400" cy="193655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spcAft>
                <a:spcPts val="700"/>
              </a:spcAft>
              <a:buNone/>
            </a:pPr>
            <a:r>
              <a:rPr lang="en-US" sz="1800" b="1" dirty="0">
                <a:solidFill>
                  <a:srgbClr val="F1D9BF"/>
                </a:solidFill>
              </a:rPr>
              <a:t>What more data would unlock</a:t>
            </a:r>
          </a:p>
          <a:p>
            <a:pPr marL="266700" indent="-266700">
              <a:lnSpc>
                <a:spcPts val="1900"/>
              </a:lnSpc>
              <a:spcBef>
                <a:spcPts val="700"/>
              </a:spcBef>
              <a:buFont typeface="Arial"/>
              <a:buChar char="•"/>
            </a:pPr>
            <a:r>
              <a:rPr lang="en-US" sz="1500" dirty="0">
                <a:solidFill>
                  <a:srgbClr val="EADFCF"/>
                </a:solidFill>
              </a:rPr>
              <a:t>2+ years → year-over-year trends and annual seasonality</a:t>
            </a:r>
          </a:p>
          <a:p>
            <a:pPr marL="266700" indent="-266700">
              <a:lnSpc>
                <a:spcPts val="1900"/>
              </a:lnSpc>
              <a:spcBef>
                <a:spcPts val="700"/>
              </a:spcBef>
              <a:buFont typeface="Arial"/>
              <a:buChar char="•"/>
            </a:pPr>
            <a:r>
              <a:rPr lang="en-US" sz="1500" dirty="0">
                <a:solidFill>
                  <a:srgbClr val="EADFCF"/>
                </a:solidFill>
              </a:rPr>
              <a:t>External data (weather, promotions, events) → explain the 42% of daily variation still unexplained</a:t>
            </a:r>
          </a:p>
          <a:p>
            <a:pPr marL="266700" indent="-266700">
              <a:lnSpc>
                <a:spcPts val="1900"/>
              </a:lnSpc>
              <a:spcBef>
                <a:spcPts val="700"/>
              </a:spcBef>
              <a:buFont typeface="Arial"/>
              <a:buChar char="•"/>
            </a:pPr>
            <a:r>
              <a:rPr lang="en-US" sz="1500" dirty="0">
                <a:solidFill>
                  <a:srgbClr val="EADFCF"/>
                </a:solidFill>
              </a:rPr>
              <a:t>Product- and region-level forecasting, beyond today's aggregate view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BC60E03-991B-42C6-90E6-D31DB895CF81}"/>
              </a:ext>
            </a:extLst>
          </p:cNvPr>
          <p:cNvSpPr/>
          <p:nvPr/>
        </p:nvSpPr>
        <p:spPr>
          <a:xfrm>
            <a:off x="1016000" y="5181600"/>
            <a:ext cx="10160000" cy="1092200"/>
          </a:xfrm>
          <a:prstGeom prst="roundRect">
            <a:avLst/>
          </a:prstGeom>
          <a:solidFill>
            <a:srgbClr val="864E3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CA8FF6-CED8-4727-8896-8E98DEB3E314}"/>
              </a:ext>
            </a:extLst>
          </p:cNvPr>
          <p:cNvSpPr txBox="1"/>
          <p:nvPr/>
        </p:nvSpPr>
        <p:spPr>
          <a:xfrm>
            <a:off x="1270000" y="5435312"/>
            <a:ext cx="9652000" cy="584775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en-US" sz="1600" b="1" i="1" dirty="0">
                <a:solidFill>
                  <a:srgbClr val="FBF3E8"/>
                </a:solidFill>
              </a:rPr>
              <a:t>CanAI Cafe is a stable, weekday-driven business earning ~$82K/year — growth will require deliberate moves on weekends, regions, or product mix.</a:t>
            </a:r>
          </a:p>
        </p:txBody>
      </p:sp>
      <p:pic>
        <p:nvPicPr>
          <p:cNvPr id="8" name="Copied Picture 8">
            <a:extLst>
              <a:ext uri="{FF2B5EF4-FFF2-40B4-BE49-F238E27FC236}">
                <a16:creationId xmlns:a16="http://schemas.microsoft.com/office/drawing/2014/main" id="{163C1694-6870-B82C-4E5D-FA9B2E79D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00" y="31750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804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2482493618]">
  <a:themeElements>
    <a:clrScheme name="Office">
      <a:dk1>
        <a:srgbClr val="2A1B12"/>
      </a:dk1>
      <a:lt1>
        <a:srgbClr val="FAF4EC"/>
      </a:lt1>
      <a:dk2>
        <a:srgbClr val="3A2318"/>
      </a:dk2>
      <a:lt2>
        <a:srgbClr val="EDDBC5"/>
      </a:lt2>
      <a:accent1>
        <a:srgbClr val="864E37"/>
      </a:accent1>
      <a:accent2>
        <a:srgbClr val="BC9F91"/>
      </a:accent2>
      <a:accent3>
        <a:srgbClr val="C8A06A"/>
      </a:accent3>
      <a:accent4>
        <a:srgbClr val="A6AAA9"/>
      </a:accent4>
      <a:accent5>
        <a:srgbClr val="81472F"/>
      </a:accent5>
      <a:accent6>
        <a:srgbClr val="6F4E37"/>
      </a:accent6>
      <a:hlink>
        <a:srgbClr val="467886"/>
      </a:hlink>
      <a:folHlink>
        <a:srgbClr val="96607D"/>
      </a:folHlink>
    </a:clrScheme>
    <a:fontScheme name="Office">
      <a:majorFont>
        <a:latin typeface="Georgia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F748131-1A85-48CF-8DF5-E30E99E2F54B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d196ca8a-5554-42e3-8559-a18617b8844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1249</Words>
  <Application>Microsoft Office PowerPoint</Application>
  <PresentationFormat>Widescreen</PresentationFormat>
  <Paragraphs>229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 [1782482493618]</vt:lpstr>
      <vt:lpstr>CanAI Cafe</vt:lpstr>
      <vt:lpstr>Problem Statement &amp; Objectives</vt:lpstr>
      <vt:lpstr>Data Overview</vt:lpstr>
      <vt:lpstr>Data Quality &amp; Cleaning</vt:lpstr>
      <vt:lpstr>Sales Trends &amp; Timing Patterns</vt:lpstr>
      <vt:lpstr>Product Performance</vt:lpstr>
      <vt:lpstr>Regional Performance</vt:lpstr>
      <vt:lpstr>Channel &amp; Payment Insights</vt:lpstr>
      <vt:lpstr>Forecasting Methodology</vt:lpstr>
      <vt:lpstr>6-Month Revenue Forecast</vt:lpstr>
      <vt:lpstr>Interactive Dashboard</vt:lpstr>
      <vt:lpstr>Recommendations</vt:lpstr>
      <vt:lpstr>Conclusion &amp; What's 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Nikhil Khatri</dc:creator>
  <cp:lastModifiedBy>Nikhil Khatri</cp:lastModifiedBy>
  <cp:revision>3</cp:revision>
  <dcterms:created xsi:type="dcterms:W3CDTF">2026-06-26T13:40:50Z</dcterms:created>
  <dcterms:modified xsi:type="dcterms:W3CDTF">2026-06-26T14:31:32Z</dcterms:modified>
</cp:coreProperties>
</file>